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61" r:id="rId5"/>
    <p:sldId id="263" r:id="rId6"/>
    <p:sldId id="264" r:id="rId7"/>
    <p:sldId id="278" r:id="rId8"/>
    <p:sldId id="265" r:id="rId9"/>
    <p:sldId id="260" r:id="rId10"/>
    <p:sldId id="266" r:id="rId11"/>
    <p:sldId id="259" r:id="rId12"/>
    <p:sldId id="269" r:id="rId13"/>
    <p:sldId id="267" r:id="rId14"/>
    <p:sldId id="271" r:id="rId15"/>
    <p:sldId id="272" r:id="rId16"/>
    <p:sldId id="273" r:id="rId17"/>
    <p:sldId id="277" r:id="rId18"/>
    <p:sldId id="274"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1B8569-706A-DB8F-B9C9-5C513BCF70AD}" v="231" dt="2025-11-09T16:29:24.9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ata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3266B3-7341-46C9-848B-362A5F9140FF}" type="doc">
      <dgm:prSet loTypeId="urn:microsoft.com/office/officeart/2018/2/layout/IconVerticalSolidList" loCatId="icon" qsTypeId="urn:microsoft.com/office/officeart/2005/8/quickstyle/simple1" qsCatId="simple" csTypeId="urn:microsoft.com/office/officeart/2005/8/colors/colorful2" csCatId="colorful" phldr="1"/>
      <dgm:spPr/>
      <dgm:t>
        <a:bodyPr/>
        <a:lstStyle/>
        <a:p>
          <a:endParaRPr lang="en-US"/>
        </a:p>
      </dgm:t>
    </dgm:pt>
    <dgm:pt modelId="{839BD272-2F79-4CC2-A456-DB1325E14DBF}">
      <dgm:prSet/>
      <dgm:spPr/>
      <dgm:t>
        <a:bodyPr/>
        <a:lstStyle/>
        <a:p>
          <a:pPr>
            <a:lnSpc>
              <a:spcPct val="100000"/>
            </a:lnSpc>
          </a:pPr>
          <a:r>
            <a:rPr lang="en-US"/>
            <a:t>Task: classify tweets as disaster-related (1) vs. non-disaster (0).</a:t>
          </a:r>
        </a:p>
      </dgm:t>
    </dgm:pt>
    <dgm:pt modelId="{C23B71BD-A360-4F03-86EF-44FF9C6CECF3}" type="parTrans" cxnId="{33C5D554-2150-4D11-9DC3-FEADDAB390BA}">
      <dgm:prSet/>
      <dgm:spPr/>
      <dgm:t>
        <a:bodyPr/>
        <a:lstStyle/>
        <a:p>
          <a:endParaRPr lang="en-US"/>
        </a:p>
      </dgm:t>
    </dgm:pt>
    <dgm:pt modelId="{90676DE2-315B-4390-9B33-76A1DC504245}" type="sibTrans" cxnId="{33C5D554-2150-4D11-9DC3-FEADDAB390BA}">
      <dgm:prSet/>
      <dgm:spPr/>
      <dgm:t>
        <a:bodyPr/>
        <a:lstStyle/>
        <a:p>
          <a:endParaRPr lang="en-US"/>
        </a:p>
      </dgm:t>
    </dgm:pt>
    <dgm:pt modelId="{03A12374-1E17-4157-82B4-EB1B1698D245}">
      <dgm:prSet phldr="0"/>
      <dgm:spPr/>
      <dgm:t>
        <a:bodyPr/>
        <a:lstStyle/>
        <a:p>
          <a:pPr>
            <a:lnSpc>
              <a:spcPct val="100000"/>
            </a:lnSpc>
          </a:pPr>
          <a:r>
            <a:rPr lang="en-US"/>
            <a:t>We chose the </a:t>
          </a:r>
          <a:r>
            <a:rPr lang="en-US" i="1"/>
            <a:t>Disaster Tweets</a:t>
          </a:r>
          <a:r>
            <a:rPr lang="en-US"/>
            <a:t> competition because it provides real, noisy, short posts with ground-truth labels, letting us benchmark classic ML vs. transformers on a realistic moderation/triage task</a:t>
          </a:r>
          <a:endParaRPr lang="en-US">
            <a:latin typeface="Calibri"/>
          </a:endParaRPr>
        </a:p>
      </dgm:t>
    </dgm:pt>
    <dgm:pt modelId="{D507AC69-DF2E-4E24-A174-8C9C67B2691A}" type="parTrans" cxnId="{AA71AED0-563F-4319-81A2-B611D9E1113A}">
      <dgm:prSet/>
      <dgm:spPr/>
    </dgm:pt>
    <dgm:pt modelId="{782DBF26-EE26-4D4F-9BF3-1A9FC4F0D583}" type="sibTrans" cxnId="{AA71AED0-563F-4319-81A2-B611D9E1113A}">
      <dgm:prSet/>
      <dgm:spPr/>
      <dgm:t>
        <a:bodyPr/>
        <a:lstStyle/>
        <a:p>
          <a:endParaRPr lang="en-US"/>
        </a:p>
      </dgm:t>
    </dgm:pt>
    <dgm:pt modelId="{FD17CAF0-9E72-4852-90F9-BC0024DC69DF}" type="pres">
      <dgm:prSet presAssocID="{E43266B3-7341-46C9-848B-362A5F9140FF}" presName="root" presStyleCnt="0">
        <dgm:presLayoutVars>
          <dgm:dir/>
          <dgm:resizeHandles val="exact"/>
        </dgm:presLayoutVars>
      </dgm:prSet>
      <dgm:spPr/>
    </dgm:pt>
    <dgm:pt modelId="{DCB109FA-CBEB-472E-AE45-934132E62425}" type="pres">
      <dgm:prSet presAssocID="{839BD272-2F79-4CC2-A456-DB1325E14DBF}" presName="compNode" presStyleCnt="0"/>
      <dgm:spPr/>
    </dgm:pt>
    <dgm:pt modelId="{2020B812-D4D4-4423-8BB1-E9A9AA399574}" type="pres">
      <dgm:prSet presAssocID="{839BD272-2F79-4CC2-A456-DB1325E14DBF}" presName="bgRect" presStyleLbl="bgShp" presStyleIdx="0" presStyleCnt="2"/>
      <dgm:spPr/>
    </dgm:pt>
    <dgm:pt modelId="{44F7AADB-3009-4BCE-A3AF-95FA634E5850}" type="pres">
      <dgm:prSet presAssocID="{839BD272-2F79-4CC2-A456-DB1325E14DB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eam"/>
        </a:ext>
      </dgm:extLst>
    </dgm:pt>
    <dgm:pt modelId="{BF72AD3E-4AFE-4D16-B812-4CBB73B6D66D}" type="pres">
      <dgm:prSet presAssocID="{839BD272-2F79-4CC2-A456-DB1325E14DBF}" presName="spaceRect" presStyleCnt="0"/>
      <dgm:spPr/>
    </dgm:pt>
    <dgm:pt modelId="{4666BF33-98A3-4BCA-A72F-53A2D2D0CB20}" type="pres">
      <dgm:prSet presAssocID="{839BD272-2F79-4CC2-A456-DB1325E14DBF}" presName="parTx" presStyleLbl="revTx" presStyleIdx="0" presStyleCnt="2">
        <dgm:presLayoutVars>
          <dgm:chMax val="0"/>
          <dgm:chPref val="0"/>
        </dgm:presLayoutVars>
      </dgm:prSet>
      <dgm:spPr/>
    </dgm:pt>
    <dgm:pt modelId="{982BB70B-DB1D-4551-AF2F-ADF93688E4E8}" type="pres">
      <dgm:prSet presAssocID="{90676DE2-315B-4390-9B33-76A1DC504245}" presName="sibTrans" presStyleCnt="0"/>
      <dgm:spPr/>
    </dgm:pt>
    <dgm:pt modelId="{11F93E01-4267-48A3-9FBB-FA18D082227B}" type="pres">
      <dgm:prSet presAssocID="{03A12374-1E17-4157-82B4-EB1B1698D245}" presName="compNode" presStyleCnt="0"/>
      <dgm:spPr/>
    </dgm:pt>
    <dgm:pt modelId="{369A00C0-0C33-469A-B75A-22BCEA0D7641}" type="pres">
      <dgm:prSet presAssocID="{03A12374-1E17-4157-82B4-EB1B1698D245}" presName="bgRect" presStyleLbl="bgShp" presStyleIdx="1" presStyleCnt="2"/>
      <dgm:spPr/>
    </dgm:pt>
    <dgm:pt modelId="{9BA0D62F-EEAD-459E-B976-B56CBB9A7B71}" type="pres">
      <dgm:prSet presAssocID="{03A12374-1E17-4157-82B4-EB1B1698D24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egaphone"/>
        </a:ext>
      </dgm:extLst>
    </dgm:pt>
    <dgm:pt modelId="{F277531D-E7AB-4D83-895F-7BBB3F194130}" type="pres">
      <dgm:prSet presAssocID="{03A12374-1E17-4157-82B4-EB1B1698D245}" presName="spaceRect" presStyleCnt="0"/>
      <dgm:spPr/>
    </dgm:pt>
    <dgm:pt modelId="{69489E0F-AA8E-4DC5-8D00-6EB01978F7CA}" type="pres">
      <dgm:prSet presAssocID="{03A12374-1E17-4157-82B4-EB1B1698D245}" presName="parTx" presStyleLbl="revTx" presStyleIdx="1" presStyleCnt="2">
        <dgm:presLayoutVars>
          <dgm:chMax val="0"/>
          <dgm:chPref val="0"/>
        </dgm:presLayoutVars>
      </dgm:prSet>
      <dgm:spPr/>
    </dgm:pt>
  </dgm:ptLst>
  <dgm:cxnLst>
    <dgm:cxn modelId="{4BBB8A19-4ADC-4F84-8AF5-6148036F134E}" type="presOf" srcId="{839BD272-2F79-4CC2-A456-DB1325E14DBF}" destId="{4666BF33-98A3-4BCA-A72F-53A2D2D0CB20}" srcOrd="0" destOrd="0" presId="urn:microsoft.com/office/officeart/2018/2/layout/IconVerticalSolidList"/>
    <dgm:cxn modelId="{33C5D554-2150-4D11-9DC3-FEADDAB390BA}" srcId="{E43266B3-7341-46C9-848B-362A5F9140FF}" destId="{839BD272-2F79-4CC2-A456-DB1325E14DBF}" srcOrd="0" destOrd="0" parTransId="{C23B71BD-A360-4F03-86EF-44FF9C6CECF3}" sibTransId="{90676DE2-315B-4390-9B33-76A1DC504245}"/>
    <dgm:cxn modelId="{A77CE874-526F-4C34-9A2F-81FC7B8421EB}" type="presOf" srcId="{E43266B3-7341-46C9-848B-362A5F9140FF}" destId="{FD17CAF0-9E72-4852-90F9-BC0024DC69DF}" srcOrd="0" destOrd="0" presId="urn:microsoft.com/office/officeart/2018/2/layout/IconVerticalSolidList"/>
    <dgm:cxn modelId="{AA71AED0-563F-4319-81A2-B611D9E1113A}" srcId="{E43266B3-7341-46C9-848B-362A5F9140FF}" destId="{03A12374-1E17-4157-82B4-EB1B1698D245}" srcOrd="1" destOrd="0" parTransId="{D507AC69-DF2E-4E24-A174-8C9C67B2691A}" sibTransId="{782DBF26-EE26-4D4F-9BF3-1A9FC4F0D583}"/>
    <dgm:cxn modelId="{2C1658DA-18C9-4B23-82C3-341A7EF4F862}" type="presOf" srcId="{03A12374-1E17-4157-82B4-EB1B1698D245}" destId="{69489E0F-AA8E-4DC5-8D00-6EB01978F7CA}" srcOrd="0" destOrd="0" presId="urn:microsoft.com/office/officeart/2018/2/layout/IconVerticalSolidList"/>
    <dgm:cxn modelId="{D0C42015-80DC-45A0-B758-9C835CB7DD99}" type="presParOf" srcId="{FD17CAF0-9E72-4852-90F9-BC0024DC69DF}" destId="{DCB109FA-CBEB-472E-AE45-934132E62425}" srcOrd="0" destOrd="0" presId="urn:microsoft.com/office/officeart/2018/2/layout/IconVerticalSolidList"/>
    <dgm:cxn modelId="{E7605F5F-F35E-4338-A730-8A5F5D029002}" type="presParOf" srcId="{DCB109FA-CBEB-472E-AE45-934132E62425}" destId="{2020B812-D4D4-4423-8BB1-E9A9AA399574}" srcOrd="0" destOrd="0" presId="urn:microsoft.com/office/officeart/2018/2/layout/IconVerticalSolidList"/>
    <dgm:cxn modelId="{82C45C49-2B9B-4693-9273-0873BE2E788F}" type="presParOf" srcId="{DCB109FA-CBEB-472E-AE45-934132E62425}" destId="{44F7AADB-3009-4BCE-A3AF-95FA634E5850}" srcOrd="1" destOrd="0" presId="urn:microsoft.com/office/officeart/2018/2/layout/IconVerticalSolidList"/>
    <dgm:cxn modelId="{D822822E-0E88-47D8-81B8-63636F510428}" type="presParOf" srcId="{DCB109FA-CBEB-472E-AE45-934132E62425}" destId="{BF72AD3E-4AFE-4D16-B812-4CBB73B6D66D}" srcOrd="2" destOrd="0" presId="urn:microsoft.com/office/officeart/2018/2/layout/IconVerticalSolidList"/>
    <dgm:cxn modelId="{639CAB00-B53D-4995-ADD6-204DBF6FA2B4}" type="presParOf" srcId="{DCB109FA-CBEB-472E-AE45-934132E62425}" destId="{4666BF33-98A3-4BCA-A72F-53A2D2D0CB20}" srcOrd="3" destOrd="0" presId="urn:microsoft.com/office/officeart/2018/2/layout/IconVerticalSolidList"/>
    <dgm:cxn modelId="{188D6210-8EA5-408E-9F37-F037C760B2FF}" type="presParOf" srcId="{FD17CAF0-9E72-4852-90F9-BC0024DC69DF}" destId="{982BB70B-DB1D-4551-AF2F-ADF93688E4E8}" srcOrd="1" destOrd="0" presId="urn:microsoft.com/office/officeart/2018/2/layout/IconVerticalSolidList"/>
    <dgm:cxn modelId="{61D552D4-C9AE-43AA-8CDD-5EB65039AECE}" type="presParOf" srcId="{FD17CAF0-9E72-4852-90F9-BC0024DC69DF}" destId="{11F93E01-4267-48A3-9FBB-FA18D082227B}" srcOrd="2" destOrd="0" presId="urn:microsoft.com/office/officeart/2018/2/layout/IconVerticalSolidList"/>
    <dgm:cxn modelId="{E9FFED9F-101B-4E65-8B6B-0744BAF7FABA}" type="presParOf" srcId="{11F93E01-4267-48A3-9FBB-FA18D082227B}" destId="{369A00C0-0C33-469A-B75A-22BCEA0D7641}" srcOrd="0" destOrd="0" presId="urn:microsoft.com/office/officeart/2018/2/layout/IconVerticalSolidList"/>
    <dgm:cxn modelId="{C2F98304-8360-487B-A3BD-8554783F8D81}" type="presParOf" srcId="{11F93E01-4267-48A3-9FBB-FA18D082227B}" destId="{9BA0D62F-EEAD-459E-B976-B56CBB9A7B71}" srcOrd="1" destOrd="0" presId="urn:microsoft.com/office/officeart/2018/2/layout/IconVerticalSolidList"/>
    <dgm:cxn modelId="{524A2D1E-6E4C-49C2-991C-56E4980CDB87}" type="presParOf" srcId="{11F93E01-4267-48A3-9FBB-FA18D082227B}" destId="{F277531D-E7AB-4D83-895F-7BBB3F194130}" srcOrd="2" destOrd="0" presId="urn:microsoft.com/office/officeart/2018/2/layout/IconVerticalSolidList"/>
    <dgm:cxn modelId="{65CB1736-F677-4F34-95C3-7345B44E6890}" type="presParOf" srcId="{11F93E01-4267-48A3-9FBB-FA18D082227B}" destId="{69489E0F-AA8E-4DC5-8D00-6EB01978F7C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69131E-E80E-4C30-A779-1A988D87563E}"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58B39C6-310D-4D0A-B4C7-A5DFD7F5DC74}">
      <dgm:prSet/>
      <dgm:spPr/>
      <dgm:t>
        <a:bodyPr/>
        <a:lstStyle/>
        <a:p>
          <a:r>
            <a:rPr lang="en-US"/>
            <a:t>Columns: id, keyword, location, text, target.</a:t>
          </a:r>
        </a:p>
      </dgm:t>
    </dgm:pt>
    <dgm:pt modelId="{66CDE532-F6E7-4C17-A7D8-80A048F26242}" type="parTrans" cxnId="{5071D158-8817-4534-B4D6-A3047E8382BE}">
      <dgm:prSet/>
      <dgm:spPr/>
      <dgm:t>
        <a:bodyPr/>
        <a:lstStyle/>
        <a:p>
          <a:endParaRPr lang="en-US"/>
        </a:p>
      </dgm:t>
    </dgm:pt>
    <dgm:pt modelId="{E0E62275-1BBE-440C-AE95-B5B320C68152}" type="sibTrans" cxnId="{5071D158-8817-4534-B4D6-A3047E8382BE}">
      <dgm:prSet/>
      <dgm:spPr/>
      <dgm:t>
        <a:bodyPr/>
        <a:lstStyle/>
        <a:p>
          <a:endParaRPr lang="en-US"/>
        </a:p>
      </dgm:t>
    </dgm:pt>
    <dgm:pt modelId="{617A8CA2-199D-4963-8B53-E0F4B7611670}">
      <dgm:prSet/>
      <dgm:spPr/>
      <dgm:t>
        <a:bodyPr/>
        <a:lstStyle/>
        <a:p>
          <a:r>
            <a:rPr lang="en-US"/>
            <a:t>Class balance ≈ 47%/53% (may vary slightly after cleaning).</a:t>
          </a:r>
        </a:p>
      </dgm:t>
    </dgm:pt>
    <dgm:pt modelId="{DE54B557-5A01-46ED-B9A7-F0196CAD798D}" type="parTrans" cxnId="{3E45BFF2-C7A3-4DC1-86DE-E4AB94CBDE5A}">
      <dgm:prSet/>
      <dgm:spPr/>
      <dgm:t>
        <a:bodyPr/>
        <a:lstStyle/>
        <a:p>
          <a:endParaRPr lang="en-US"/>
        </a:p>
      </dgm:t>
    </dgm:pt>
    <dgm:pt modelId="{A0EE4542-E9A8-4137-B62F-D19CDCEE85BD}" type="sibTrans" cxnId="{3E45BFF2-C7A3-4DC1-86DE-E4AB94CBDE5A}">
      <dgm:prSet/>
      <dgm:spPr/>
      <dgm:t>
        <a:bodyPr/>
        <a:lstStyle/>
        <a:p>
          <a:endParaRPr lang="en-US"/>
        </a:p>
      </dgm:t>
    </dgm:pt>
    <dgm:pt modelId="{1E921096-F8CF-4828-BB95-CDBDDC8B9336}">
      <dgm:prSet/>
      <dgm:spPr/>
      <dgm:t>
        <a:bodyPr/>
        <a:lstStyle/>
        <a:p>
          <a:r>
            <a:rPr lang="en-US"/>
            <a:t>Noisy short text: hashtags, URLs, mentions, emojis.</a:t>
          </a:r>
        </a:p>
      </dgm:t>
    </dgm:pt>
    <dgm:pt modelId="{62FDA8C6-899D-4FC7-99B1-BFCA8CA54177}" type="parTrans" cxnId="{E851FA7C-E97C-4609-8A56-2A18C83AFB35}">
      <dgm:prSet/>
      <dgm:spPr/>
      <dgm:t>
        <a:bodyPr/>
        <a:lstStyle/>
        <a:p>
          <a:endParaRPr lang="en-US"/>
        </a:p>
      </dgm:t>
    </dgm:pt>
    <dgm:pt modelId="{B41DE045-C6AB-4661-96AB-8E908D59C03E}" type="sibTrans" cxnId="{E851FA7C-E97C-4609-8A56-2A18C83AFB35}">
      <dgm:prSet/>
      <dgm:spPr/>
      <dgm:t>
        <a:bodyPr/>
        <a:lstStyle/>
        <a:p>
          <a:endParaRPr lang="en-US"/>
        </a:p>
      </dgm:t>
    </dgm:pt>
    <dgm:pt modelId="{78C9849C-9EFC-4C14-A42A-504D1C0374BF}">
      <dgm:prSet/>
      <dgm:spPr/>
      <dgm:t>
        <a:bodyPr/>
        <a:lstStyle/>
        <a:p>
          <a:r>
            <a:rPr lang="en-US"/>
            <a:t>Checked duplicates/outliers; top keywords/locations; tweet-length patterns.</a:t>
          </a:r>
        </a:p>
      </dgm:t>
    </dgm:pt>
    <dgm:pt modelId="{82BA2C83-C66C-4CA8-A71D-D814C3A3A2F0}" type="parTrans" cxnId="{E5A8408D-7A88-45C6-BC60-1054520FF8A8}">
      <dgm:prSet/>
      <dgm:spPr/>
      <dgm:t>
        <a:bodyPr/>
        <a:lstStyle/>
        <a:p>
          <a:endParaRPr lang="en-US"/>
        </a:p>
      </dgm:t>
    </dgm:pt>
    <dgm:pt modelId="{D581D04A-2636-4036-A28D-0367C0B47EA4}" type="sibTrans" cxnId="{E5A8408D-7A88-45C6-BC60-1054520FF8A8}">
      <dgm:prSet/>
      <dgm:spPr/>
      <dgm:t>
        <a:bodyPr/>
        <a:lstStyle/>
        <a:p>
          <a:endParaRPr lang="en-US"/>
        </a:p>
      </dgm:t>
    </dgm:pt>
    <dgm:pt modelId="{EE98B172-0101-4125-A9F6-5EEE6D895B85}" type="pres">
      <dgm:prSet presAssocID="{5B69131E-E80E-4C30-A779-1A988D87563E}" presName="linear" presStyleCnt="0">
        <dgm:presLayoutVars>
          <dgm:animLvl val="lvl"/>
          <dgm:resizeHandles val="exact"/>
        </dgm:presLayoutVars>
      </dgm:prSet>
      <dgm:spPr/>
    </dgm:pt>
    <dgm:pt modelId="{787648F8-C2DF-4930-8703-1E57D91DC530}" type="pres">
      <dgm:prSet presAssocID="{458B39C6-310D-4D0A-B4C7-A5DFD7F5DC74}" presName="parentText" presStyleLbl="node1" presStyleIdx="0" presStyleCnt="4">
        <dgm:presLayoutVars>
          <dgm:chMax val="0"/>
          <dgm:bulletEnabled val="1"/>
        </dgm:presLayoutVars>
      </dgm:prSet>
      <dgm:spPr/>
    </dgm:pt>
    <dgm:pt modelId="{0F07D20A-F1E5-4821-8176-C306C0F8FDD1}" type="pres">
      <dgm:prSet presAssocID="{E0E62275-1BBE-440C-AE95-B5B320C68152}" presName="spacer" presStyleCnt="0"/>
      <dgm:spPr/>
    </dgm:pt>
    <dgm:pt modelId="{81425775-CAC7-4C40-89FF-35A631059448}" type="pres">
      <dgm:prSet presAssocID="{617A8CA2-199D-4963-8B53-E0F4B7611670}" presName="parentText" presStyleLbl="node1" presStyleIdx="1" presStyleCnt="4">
        <dgm:presLayoutVars>
          <dgm:chMax val="0"/>
          <dgm:bulletEnabled val="1"/>
        </dgm:presLayoutVars>
      </dgm:prSet>
      <dgm:spPr/>
    </dgm:pt>
    <dgm:pt modelId="{2182382B-276E-4C40-977F-68573BE40AB3}" type="pres">
      <dgm:prSet presAssocID="{A0EE4542-E9A8-4137-B62F-D19CDCEE85BD}" presName="spacer" presStyleCnt="0"/>
      <dgm:spPr/>
    </dgm:pt>
    <dgm:pt modelId="{5A02C8B7-7A64-48B0-8BB1-ABA0FA01A221}" type="pres">
      <dgm:prSet presAssocID="{1E921096-F8CF-4828-BB95-CDBDDC8B9336}" presName="parentText" presStyleLbl="node1" presStyleIdx="2" presStyleCnt="4">
        <dgm:presLayoutVars>
          <dgm:chMax val="0"/>
          <dgm:bulletEnabled val="1"/>
        </dgm:presLayoutVars>
      </dgm:prSet>
      <dgm:spPr/>
    </dgm:pt>
    <dgm:pt modelId="{84DA6553-D602-4CAE-B82C-F88ABB5D44ED}" type="pres">
      <dgm:prSet presAssocID="{B41DE045-C6AB-4661-96AB-8E908D59C03E}" presName="spacer" presStyleCnt="0"/>
      <dgm:spPr/>
    </dgm:pt>
    <dgm:pt modelId="{D86B22F1-EEF8-448B-8441-C4C74803C071}" type="pres">
      <dgm:prSet presAssocID="{78C9849C-9EFC-4C14-A42A-504D1C0374BF}" presName="parentText" presStyleLbl="node1" presStyleIdx="3" presStyleCnt="4">
        <dgm:presLayoutVars>
          <dgm:chMax val="0"/>
          <dgm:bulletEnabled val="1"/>
        </dgm:presLayoutVars>
      </dgm:prSet>
      <dgm:spPr/>
    </dgm:pt>
  </dgm:ptLst>
  <dgm:cxnLst>
    <dgm:cxn modelId="{56234715-DF1E-4AE6-98CE-502B73B3DF1B}" type="presOf" srcId="{617A8CA2-199D-4963-8B53-E0F4B7611670}" destId="{81425775-CAC7-4C40-89FF-35A631059448}" srcOrd="0" destOrd="0" presId="urn:microsoft.com/office/officeart/2005/8/layout/vList2"/>
    <dgm:cxn modelId="{B2580835-C124-4FB1-88C9-9316F11A102E}" type="presOf" srcId="{458B39C6-310D-4D0A-B4C7-A5DFD7F5DC74}" destId="{787648F8-C2DF-4930-8703-1E57D91DC530}" srcOrd="0" destOrd="0" presId="urn:microsoft.com/office/officeart/2005/8/layout/vList2"/>
    <dgm:cxn modelId="{F932AF3C-8F20-4BBA-B0C4-BDE1069A09F4}" type="presOf" srcId="{1E921096-F8CF-4828-BB95-CDBDDC8B9336}" destId="{5A02C8B7-7A64-48B0-8BB1-ABA0FA01A221}" srcOrd="0" destOrd="0" presId="urn:microsoft.com/office/officeart/2005/8/layout/vList2"/>
    <dgm:cxn modelId="{C07D9C66-757F-47B1-B9CE-8103E2F1E172}" type="presOf" srcId="{78C9849C-9EFC-4C14-A42A-504D1C0374BF}" destId="{D86B22F1-EEF8-448B-8441-C4C74803C071}" srcOrd="0" destOrd="0" presId="urn:microsoft.com/office/officeart/2005/8/layout/vList2"/>
    <dgm:cxn modelId="{5071D158-8817-4534-B4D6-A3047E8382BE}" srcId="{5B69131E-E80E-4C30-A779-1A988D87563E}" destId="{458B39C6-310D-4D0A-B4C7-A5DFD7F5DC74}" srcOrd="0" destOrd="0" parTransId="{66CDE532-F6E7-4C17-A7D8-80A048F26242}" sibTransId="{E0E62275-1BBE-440C-AE95-B5B320C68152}"/>
    <dgm:cxn modelId="{E851FA7C-E97C-4609-8A56-2A18C83AFB35}" srcId="{5B69131E-E80E-4C30-A779-1A988D87563E}" destId="{1E921096-F8CF-4828-BB95-CDBDDC8B9336}" srcOrd="2" destOrd="0" parTransId="{62FDA8C6-899D-4FC7-99B1-BFCA8CA54177}" sibTransId="{B41DE045-C6AB-4661-96AB-8E908D59C03E}"/>
    <dgm:cxn modelId="{E5A8408D-7A88-45C6-BC60-1054520FF8A8}" srcId="{5B69131E-E80E-4C30-A779-1A988D87563E}" destId="{78C9849C-9EFC-4C14-A42A-504D1C0374BF}" srcOrd="3" destOrd="0" parTransId="{82BA2C83-C66C-4CA8-A71D-D814C3A3A2F0}" sibTransId="{D581D04A-2636-4036-A28D-0367C0B47EA4}"/>
    <dgm:cxn modelId="{3E45BFF2-C7A3-4DC1-86DE-E4AB94CBDE5A}" srcId="{5B69131E-E80E-4C30-A779-1A988D87563E}" destId="{617A8CA2-199D-4963-8B53-E0F4B7611670}" srcOrd="1" destOrd="0" parTransId="{DE54B557-5A01-46ED-B9A7-F0196CAD798D}" sibTransId="{A0EE4542-E9A8-4137-B62F-D19CDCEE85BD}"/>
    <dgm:cxn modelId="{D14824FB-8FE0-4423-8C0A-8917089525CA}" type="presOf" srcId="{5B69131E-E80E-4C30-A779-1A988D87563E}" destId="{EE98B172-0101-4125-A9F6-5EEE6D895B85}" srcOrd="0" destOrd="0" presId="urn:microsoft.com/office/officeart/2005/8/layout/vList2"/>
    <dgm:cxn modelId="{8F38582D-E39B-42A1-AB52-AD0E1B2717BA}" type="presParOf" srcId="{EE98B172-0101-4125-A9F6-5EEE6D895B85}" destId="{787648F8-C2DF-4930-8703-1E57D91DC530}" srcOrd="0" destOrd="0" presId="urn:microsoft.com/office/officeart/2005/8/layout/vList2"/>
    <dgm:cxn modelId="{3623562D-46C2-42B1-8591-FB81319CDBC8}" type="presParOf" srcId="{EE98B172-0101-4125-A9F6-5EEE6D895B85}" destId="{0F07D20A-F1E5-4821-8176-C306C0F8FDD1}" srcOrd="1" destOrd="0" presId="urn:microsoft.com/office/officeart/2005/8/layout/vList2"/>
    <dgm:cxn modelId="{BE7A0747-B822-4615-99DA-A0E813DEE217}" type="presParOf" srcId="{EE98B172-0101-4125-A9F6-5EEE6D895B85}" destId="{81425775-CAC7-4C40-89FF-35A631059448}" srcOrd="2" destOrd="0" presId="urn:microsoft.com/office/officeart/2005/8/layout/vList2"/>
    <dgm:cxn modelId="{0ECA5008-D7E8-4702-A587-557BD41FBE86}" type="presParOf" srcId="{EE98B172-0101-4125-A9F6-5EEE6D895B85}" destId="{2182382B-276E-4C40-977F-68573BE40AB3}" srcOrd="3" destOrd="0" presId="urn:microsoft.com/office/officeart/2005/8/layout/vList2"/>
    <dgm:cxn modelId="{C543B3A3-DFE4-4BF2-8E47-5D8E76CE2209}" type="presParOf" srcId="{EE98B172-0101-4125-A9F6-5EEE6D895B85}" destId="{5A02C8B7-7A64-48B0-8BB1-ABA0FA01A221}" srcOrd="4" destOrd="0" presId="urn:microsoft.com/office/officeart/2005/8/layout/vList2"/>
    <dgm:cxn modelId="{C6F137FD-0110-4395-B54D-700E5E785ED6}" type="presParOf" srcId="{EE98B172-0101-4125-A9F6-5EEE6D895B85}" destId="{84DA6553-D602-4CAE-B82C-F88ABB5D44ED}" srcOrd="5" destOrd="0" presId="urn:microsoft.com/office/officeart/2005/8/layout/vList2"/>
    <dgm:cxn modelId="{6E8CE9C9-C34E-44A7-9EEF-112FABFBA7DA}" type="presParOf" srcId="{EE98B172-0101-4125-A9F6-5EEE6D895B85}" destId="{D86B22F1-EEF8-448B-8441-C4C74803C07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44E5CD2-E19F-4D2A-B44B-E97452FCBCE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93C01D3-BAA6-431B-81D0-8641BC6C7837}">
      <dgm:prSet/>
      <dgm:spPr/>
      <dgm:t>
        <a:bodyPr/>
        <a:lstStyle/>
        <a:p>
          <a:pPr>
            <a:lnSpc>
              <a:spcPct val="100000"/>
            </a:lnSpc>
          </a:pPr>
          <a:r>
            <a:rPr lang="en-US"/>
            <a:t>Baselines: TF‑IDF + Logistic Regression; LinearSVC (word 1–2g, char_wb 3–5g).</a:t>
          </a:r>
        </a:p>
      </dgm:t>
    </dgm:pt>
    <dgm:pt modelId="{68AAA214-39AE-4AEA-9086-4428AF0704B0}" type="parTrans" cxnId="{FC6DDAE6-88F2-42BF-9344-04AC93B56D92}">
      <dgm:prSet/>
      <dgm:spPr/>
      <dgm:t>
        <a:bodyPr/>
        <a:lstStyle/>
        <a:p>
          <a:endParaRPr lang="en-US"/>
        </a:p>
      </dgm:t>
    </dgm:pt>
    <dgm:pt modelId="{63493B96-FF20-4CAD-A4C2-92BB4305CA5C}" type="sibTrans" cxnId="{FC6DDAE6-88F2-42BF-9344-04AC93B56D92}">
      <dgm:prSet/>
      <dgm:spPr/>
      <dgm:t>
        <a:bodyPr/>
        <a:lstStyle/>
        <a:p>
          <a:endParaRPr lang="en-US"/>
        </a:p>
      </dgm:t>
    </dgm:pt>
    <dgm:pt modelId="{69EC917B-B9E9-4EDE-BF44-C659D42D5F95}">
      <dgm:prSet/>
      <dgm:spPr/>
      <dgm:t>
        <a:bodyPr/>
        <a:lstStyle/>
        <a:p>
          <a:pPr>
            <a:lnSpc>
              <a:spcPct val="100000"/>
            </a:lnSpc>
          </a:pPr>
          <a:r>
            <a:rPr lang="en-US"/>
            <a:t>RNN: SimpleRNN classifier (Embedding → RNN → Dense).</a:t>
          </a:r>
        </a:p>
      </dgm:t>
    </dgm:pt>
    <dgm:pt modelId="{A024C6B8-E258-4901-808E-3F64CBB53028}" type="parTrans" cxnId="{AA6F46C7-CE84-42E7-9031-F3A0BCE10F7A}">
      <dgm:prSet/>
      <dgm:spPr/>
      <dgm:t>
        <a:bodyPr/>
        <a:lstStyle/>
        <a:p>
          <a:endParaRPr lang="en-US"/>
        </a:p>
      </dgm:t>
    </dgm:pt>
    <dgm:pt modelId="{0921CCAD-EB89-4B33-8821-2F2B0BCCCF12}" type="sibTrans" cxnId="{AA6F46C7-CE84-42E7-9031-F3A0BCE10F7A}">
      <dgm:prSet/>
      <dgm:spPr/>
      <dgm:t>
        <a:bodyPr/>
        <a:lstStyle/>
        <a:p>
          <a:endParaRPr lang="en-US"/>
        </a:p>
      </dgm:t>
    </dgm:pt>
    <dgm:pt modelId="{A1B38237-43B5-413D-BEB7-3A0AD65EE10C}">
      <dgm:prSet/>
      <dgm:spPr/>
      <dgm:t>
        <a:bodyPr/>
        <a:lstStyle/>
        <a:p>
          <a:pPr>
            <a:lnSpc>
              <a:spcPct val="100000"/>
            </a:lnSpc>
          </a:pPr>
          <a:r>
            <a:rPr lang="en-US"/>
            <a:t>RNN+: BiLSTM + mean–max pooling (stable baseline).</a:t>
          </a:r>
        </a:p>
      </dgm:t>
    </dgm:pt>
    <dgm:pt modelId="{0AF46EDF-AAB5-4140-938E-201C7D9B42DE}" type="parTrans" cxnId="{4922936B-27E6-42ED-B948-1BFA50B934ED}">
      <dgm:prSet/>
      <dgm:spPr/>
      <dgm:t>
        <a:bodyPr/>
        <a:lstStyle/>
        <a:p>
          <a:endParaRPr lang="en-US"/>
        </a:p>
      </dgm:t>
    </dgm:pt>
    <dgm:pt modelId="{94DE52B2-EA9D-4644-A929-49FCA3BBCD40}" type="sibTrans" cxnId="{4922936B-27E6-42ED-B948-1BFA50B934ED}">
      <dgm:prSet/>
      <dgm:spPr/>
      <dgm:t>
        <a:bodyPr/>
        <a:lstStyle/>
        <a:p>
          <a:endParaRPr lang="en-US"/>
        </a:p>
      </dgm:t>
    </dgm:pt>
    <dgm:pt modelId="{813D5ABB-39C6-4764-985B-60ECA5064D8C}">
      <dgm:prSet/>
      <dgm:spPr/>
      <dgm:t>
        <a:bodyPr/>
        <a:lstStyle/>
        <a:p>
          <a:pPr>
            <a:lnSpc>
              <a:spcPct val="100000"/>
            </a:lnSpc>
          </a:pPr>
          <a:r>
            <a:rPr lang="en-US"/>
            <a:t>Transformers: DistilBERT fine‑tuned; BERTweet fine‑tuned.</a:t>
          </a:r>
        </a:p>
      </dgm:t>
    </dgm:pt>
    <dgm:pt modelId="{7ED0A40E-7BB0-492F-AB21-59FB9B7DFD69}" type="parTrans" cxnId="{FF616BA4-8CBE-49E3-BEDE-D93B3F81478F}">
      <dgm:prSet/>
      <dgm:spPr/>
      <dgm:t>
        <a:bodyPr/>
        <a:lstStyle/>
        <a:p>
          <a:endParaRPr lang="en-US"/>
        </a:p>
      </dgm:t>
    </dgm:pt>
    <dgm:pt modelId="{BF1269D4-FE47-499F-AA99-5DE92523C9E4}" type="sibTrans" cxnId="{FF616BA4-8CBE-49E3-BEDE-D93B3F81478F}">
      <dgm:prSet/>
      <dgm:spPr/>
      <dgm:t>
        <a:bodyPr/>
        <a:lstStyle/>
        <a:p>
          <a:endParaRPr lang="en-US"/>
        </a:p>
      </dgm:t>
    </dgm:pt>
    <dgm:pt modelId="{3F73DFFC-D18F-4482-B218-F4D174E14985}" type="pres">
      <dgm:prSet presAssocID="{044E5CD2-E19F-4D2A-B44B-E97452FCBCEC}" presName="root" presStyleCnt="0">
        <dgm:presLayoutVars>
          <dgm:dir/>
          <dgm:resizeHandles val="exact"/>
        </dgm:presLayoutVars>
      </dgm:prSet>
      <dgm:spPr/>
    </dgm:pt>
    <dgm:pt modelId="{E414CF37-389B-43FC-96BE-9BDBEC91F7DC}" type="pres">
      <dgm:prSet presAssocID="{393C01D3-BAA6-431B-81D0-8641BC6C7837}" presName="compNode" presStyleCnt="0"/>
      <dgm:spPr/>
    </dgm:pt>
    <dgm:pt modelId="{25A850A4-C481-46BC-B180-1877FC9438B5}" type="pres">
      <dgm:prSet presAssocID="{393C01D3-BAA6-431B-81D0-8641BC6C7837}" presName="bgRect" presStyleLbl="bgShp" presStyleIdx="0" presStyleCnt="4"/>
      <dgm:spPr/>
    </dgm:pt>
    <dgm:pt modelId="{150647C2-B63B-4597-8594-6CE67A162B4A}" type="pres">
      <dgm:prSet presAssocID="{393C01D3-BAA6-431B-81D0-8641BC6C783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esentation with Checklist"/>
        </a:ext>
      </dgm:extLst>
    </dgm:pt>
    <dgm:pt modelId="{CBDA0EE2-7BA9-40D6-A7B2-B5B4FAB69309}" type="pres">
      <dgm:prSet presAssocID="{393C01D3-BAA6-431B-81D0-8641BC6C7837}" presName="spaceRect" presStyleCnt="0"/>
      <dgm:spPr/>
    </dgm:pt>
    <dgm:pt modelId="{82B64AD2-7B48-4EA5-BA66-45B37958714A}" type="pres">
      <dgm:prSet presAssocID="{393C01D3-BAA6-431B-81D0-8641BC6C7837}" presName="parTx" presStyleLbl="revTx" presStyleIdx="0" presStyleCnt="4">
        <dgm:presLayoutVars>
          <dgm:chMax val="0"/>
          <dgm:chPref val="0"/>
        </dgm:presLayoutVars>
      </dgm:prSet>
      <dgm:spPr/>
    </dgm:pt>
    <dgm:pt modelId="{1C06039E-DA64-4905-8DE4-0E41942C3883}" type="pres">
      <dgm:prSet presAssocID="{63493B96-FF20-4CAD-A4C2-92BB4305CA5C}" presName="sibTrans" presStyleCnt="0"/>
      <dgm:spPr/>
    </dgm:pt>
    <dgm:pt modelId="{6CB66FCE-DBBD-4DFC-8968-CA6809EA082F}" type="pres">
      <dgm:prSet presAssocID="{69EC917B-B9E9-4EDE-BF44-C659D42D5F95}" presName="compNode" presStyleCnt="0"/>
      <dgm:spPr/>
    </dgm:pt>
    <dgm:pt modelId="{24C615FE-743A-4F4A-B469-BB88FE6DAAAD}" type="pres">
      <dgm:prSet presAssocID="{69EC917B-B9E9-4EDE-BF44-C659D42D5F95}" presName="bgRect" presStyleLbl="bgShp" presStyleIdx="1" presStyleCnt="4"/>
      <dgm:spPr/>
    </dgm:pt>
    <dgm:pt modelId="{23848868-CB89-40D8-8BA7-3C4113F9BFEC}" type="pres">
      <dgm:prSet presAssocID="{69EC917B-B9E9-4EDE-BF44-C659D42D5F9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rawing Compass"/>
        </a:ext>
      </dgm:extLst>
    </dgm:pt>
    <dgm:pt modelId="{F11443F7-5B40-4907-A0F5-DAF7D0371F5C}" type="pres">
      <dgm:prSet presAssocID="{69EC917B-B9E9-4EDE-BF44-C659D42D5F95}" presName="spaceRect" presStyleCnt="0"/>
      <dgm:spPr/>
    </dgm:pt>
    <dgm:pt modelId="{8D9556D4-7159-433E-AFB7-5FACE614E19C}" type="pres">
      <dgm:prSet presAssocID="{69EC917B-B9E9-4EDE-BF44-C659D42D5F95}" presName="parTx" presStyleLbl="revTx" presStyleIdx="1" presStyleCnt="4">
        <dgm:presLayoutVars>
          <dgm:chMax val="0"/>
          <dgm:chPref val="0"/>
        </dgm:presLayoutVars>
      </dgm:prSet>
      <dgm:spPr/>
    </dgm:pt>
    <dgm:pt modelId="{8B68AAC3-F096-425C-AAC8-1D165C522C18}" type="pres">
      <dgm:prSet presAssocID="{0921CCAD-EB89-4B33-8821-2F2B0BCCCF12}" presName="sibTrans" presStyleCnt="0"/>
      <dgm:spPr/>
    </dgm:pt>
    <dgm:pt modelId="{A7E3C402-55EC-4E98-8F00-0BA55B1A084C}" type="pres">
      <dgm:prSet presAssocID="{A1B38237-43B5-413D-BEB7-3A0AD65EE10C}" presName="compNode" presStyleCnt="0"/>
      <dgm:spPr/>
    </dgm:pt>
    <dgm:pt modelId="{73835664-65DF-4424-AF65-6CB8C24F6B01}" type="pres">
      <dgm:prSet presAssocID="{A1B38237-43B5-413D-BEB7-3A0AD65EE10C}" presName="bgRect" presStyleLbl="bgShp" presStyleIdx="2" presStyleCnt="4"/>
      <dgm:spPr/>
    </dgm:pt>
    <dgm:pt modelId="{5372DAF3-13C8-4A61-9636-1F8C38404DB2}" type="pres">
      <dgm:prSet presAssocID="{A1B38237-43B5-413D-BEB7-3A0AD65EE10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ce"/>
        </a:ext>
      </dgm:extLst>
    </dgm:pt>
    <dgm:pt modelId="{D1C42848-D039-4849-87F0-95FFC1106066}" type="pres">
      <dgm:prSet presAssocID="{A1B38237-43B5-413D-BEB7-3A0AD65EE10C}" presName="spaceRect" presStyleCnt="0"/>
      <dgm:spPr/>
    </dgm:pt>
    <dgm:pt modelId="{5C5F1044-87B0-4CAA-8E0D-808168FB32F9}" type="pres">
      <dgm:prSet presAssocID="{A1B38237-43B5-413D-BEB7-3A0AD65EE10C}" presName="parTx" presStyleLbl="revTx" presStyleIdx="2" presStyleCnt="4">
        <dgm:presLayoutVars>
          <dgm:chMax val="0"/>
          <dgm:chPref val="0"/>
        </dgm:presLayoutVars>
      </dgm:prSet>
      <dgm:spPr/>
    </dgm:pt>
    <dgm:pt modelId="{76B5D585-0C41-4ED9-9D4C-3E610E630C66}" type="pres">
      <dgm:prSet presAssocID="{94DE52B2-EA9D-4644-A929-49FCA3BBCD40}" presName="sibTrans" presStyleCnt="0"/>
      <dgm:spPr/>
    </dgm:pt>
    <dgm:pt modelId="{8A2010F9-4D48-4914-8857-F226E0087D3E}" type="pres">
      <dgm:prSet presAssocID="{813D5ABB-39C6-4764-985B-60ECA5064D8C}" presName="compNode" presStyleCnt="0"/>
      <dgm:spPr/>
    </dgm:pt>
    <dgm:pt modelId="{DF2A333A-D671-47CD-8A30-52C0B7D01678}" type="pres">
      <dgm:prSet presAssocID="{813D5ABB-39C6-4764-985B-60ECA5064D8C}" presName="bgRect" presStyleLbl="bgShp" presStyleIdx="3" presStyleCnt="4"/>
      <dgm:spPr/>
    </dgm:pt>
    <dgm:pt modelId="{4F6CA9FD-5311-4A3C-935C-68CB79C961E2}" type="pres">
      <dgm:prSet presAssocID="{813D5ABB-39C6-4764-985B-60ECA5064D8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Electrician"/>
        </a:ext>
      </dgm:extLst>
    </dgm:pt>
    <dgm:pt modelId="{429CFDB6-28A5-4F0E-BAD1-C89F7361534A}" type="pres">
      <dgm:prSet presAssocID="{813D5ABB-39C6-4764-985B-60ECA5064D8C}" presName="spaceRect" presStyleCnt="0"/>
      <dgm:spPr/>
    </dgm:pt>
    <dgm:pt modelId="{5C2818DD-FCAE-40B1-8BFE-20DEFB4CD54A}" type="pres">
      <dgm:prSet presAssocID="{813D5ABB-39C6-4764-985B-60ECA5064D8C}" presName="parTx" presStyleLbl="revTx" presStyleIdx="3" presStyleCnt="4">
        <dgm:presLayoutVars>
          <dgm:chMax val="0"/>
          <dgm:chPref val="0"/>
        </dgm:presLayoutVars>
      </dgm:prSet>
      <dgm:spPr/>
    </dgm:pt>
  </dgm:ptLst>
  <dgm:cxnLst>
    <dgm:cxn modelId="{AF3A0B16-942E-4090-9686-8B70BDDC009B}" type="presOf" srcId="{044E5CD2-E19F-4D2A-B44B-E97452FCBCEC}" destId="{3F73DFFC-D18F-4482-B218-F4D174E14985}" srcOrd="0" destOrd="0" presId="urn:microsoft.com/office/officeart/2018/2/layout/IconVerticalSolidList"/>
    <dgm:cxn modelId="{02595618-D43A-4FB5-833A-3083300B03B9}" type="presOf" srcId="{813D5ABB-39C6-4764-985B-60ECA5064D8C}" destId="{5C2818DD-FCAE-40B1-8BFE-20DEFB4CD54A}" srcOrd="0" destOrd="0" presId="urn:microsoft.com/office/officeart/2018/2/layout/IconVerticalSolidList"/>
    <dgm:cxn modelId="{4922936B-27E6-42ED-B948-1BFA50B934ED}" srcId="{044E5CD2-E19F-4D2A-B44B-E97452FCBCEC}" destId="{A1B38237-43B5-413D-BEB7-3A0AD65EE10C}" srcOrd="2" destOrd="0" parTransId="{0AF46EDF-AAB5-4140-938E-201C7D9B42DE}" sibTransId="{94DE52B2-EA9D-4644-A929-49FCA3BBCD40}"/>
    <dgm:cxn modelId="{61FFBC7B-8A7C-4760-B059-5BC50699EB5F}" type="presOf" srcId="{69EC917B-B9E9-4EDE-BF44-C659D42D5F95}" destId="{8D9556D4-7159-433E-AFB7-5FACE614E19C}" srcOrd="0" destOrd="0" presId="urn:microsoft.com/office/officeart/2018/2/layout/IconVerticalSolidList"/>
    <dgm:cxn modelId="{57DEB89D-BF43-477F-813E-C4845B2B9419}" type="presOf" srcId="{A1B38237-43B5-413D-BEB7-3A0AD65EE10C}" destId="{5C5F1044-87B0-4CAA-8E0D-808168FB32F9}" srcOrd="0" destOrd="0" presId="urn:microsoft.com/office/officeart/2018/2/layout/IconVerticalSolidList"/>
    <dgm:cxn modelId="{C3DF279E-8E9D-410B-B3B9-9D1BF4319E36}" type="presOf" srcId="{393C01D3-BAA6-431B-81D0-8641BC6C7837}" destId="{82B64AD2-7B48-4EA5-BA66-45B37958714A}" srcOrd="0" destOrd="0" presId="urn:microsoft.com/office/officeart/2018/2/layout/IconVerticalSolidList"/>
    <dgm:cxn modelId="{FF616BA4-8CBE-49E3-BEDE-D93B3F81478F}" srcId="{044E5CD2-E19F-4D2A-B44B-E97452FCBCEC}" destId="{813D5ABB-39C6-4764-985B-60ECA5064D8C}" srcOrd="3" destOrd="0" parTransId="{7ED0A40E-7BB0-492F-AB21-59FB9B7DFD69}" sibTransId="{BF1269D4-FE47-499F-AA99-5DE92523C9E4}"/>
    <dgm:cxn modelId="{AA6F46C7-CE84-42E7-9031-F3A0BCE10F7A}" srcId="{044E5CD2-E19F-4D2A-B44B-E97452FCBCEC}" destId="{69EC917B-B9E9-4EDE-BF44-C659D42D5F95}" srcOrd="1" destOrd="0" parTransId="{A024C6B8-E258-4901-808E-3F64CBB53028}" sibTransId="{0921CCAD-EB89-4B33-8821-2F2B0BCCCF12}"/>
    <dgm:cxn modelId="{FC6DDAE6-88F2-42BF-9344-04AC93B56D92}" srcId="{044E5CD2-E19F-4D2A-B44B-E97452FCBCEC}" destId="{393C01D3-BAA6-431B-81D0-8641BC6C7837}" srcOrd="0" destOrd="0" parTransId="{68AAA214-39AE-4AEA-9086-4428AF0704B0}" sibTransId="{63493B96-FF20-4CAD-A4C2-92BB4305CA5C}"/>
    <dgm:cxn modelId="{940E5117-E07C-4E5F-B2AA-CB6B213F1E1B}" type="presParOf" srcId="{3F73DFFC-D18F-4482-B218-F4D174E14985}" destId="{E414CF37-389B-43FC-96BE-9BDBEC91F7DC}" srcOrd="0" destOrd="0" presId="urn:microsoft.com/office/officeart/2018/2/layout/IconVerticalSolidList"/>
    <dgm:cxn modelId="{4BC6697A-A9AA-486F-A7A3-27EA329FB9A7}" type="presParOf" srcId="{E414CF37-389B-43FC-96BE-9BDBEC91F7DC}" destId="{25A850A4-C481-46BC-B180-1877FC9438B5}" srcOrd="0" destOrd="0" presId="urn:microsoft.com/office/officeart/2018/2/layout/IconVerticalSolidList"/>
    <dgm:cxn modelId="{1A6EC7D2-8240-418F-8778-13CC16D7AA2C}" type="presParOf" srcId="{E414CF37-389B-43FC-96BE-9BDBEC91F7DC}" destId="{150647C2-B63B-4597-8594-6CE67A162B4A}" srcOrd="1" destOrd="0" presId="urn:microsoft.com/office/officeart/2018/2/layout/IconVerticalSolidList"/>
    <dgm:cxn modelId="{80C307D1-F416-4D58-A0F7-28331C02DD51}" type="presParOf" srcId="{E414CF37-389B-43FC-96BE-9BDBEC91F7DC}" destId="{CBDA0EE2-7BA9-40D6-A7B2-B5B4FAB69309}" srcOrd="2" destOrd="0" presId="urn:microsoft.com/office/officeart/2018/2/layout/IconVerticalSolidList"/>
    <dgm:cxn modelId="{E5E357A5-643C-40D4-A57C-F76E0A7E3C19}" type="presParOf" srcId="{E414CF37-389B-43FC-96BE-9BDBEC91F7DC}" destId="{82B64AD2-7B48-4EA5-BA66-45B37958714A}" srcOrd="3" destOrd="0" presId="urn:microsoft.com/office/officeart/2018/2/layout/IconVerticalSolidList"/>
    <dgm:cxn modelId="{04730946-5337-4897-8727-4D5DAEC6D866}" type="presParOf" srcId="{3F73DFFC-D18F-4482-B218-F4D174E14985}" destId="{1C06039E-DA64-4905-8DE4-0E41942C3883}" srcOrd="1" destOrd="0" presId="urn:microsoft.com/office/officeart/2018/2/layout/IconVerticalSolidList"/>
    <dgm:cxn modelId="{9691D2D6-4F21-42DE-861C-8A38A596C89B}" type="presParOf" srcId="{3F73DFFC-D18F-4482-B218-F4D174E14985}" destId="{6CB66FCE-DBBD-4DFC-8968-CA6809EA082F}" srcOrd="2" destOrd="0" presId="urn:microsoft.com/office/officeart/2018/2/layout/IconVerticalSolidList"/>
    <dgm:cxn modelId="{20FB65E3-1537-43A3-9AEA-D2EF734FE963}" type="presParOf" srcId="{6CB66FCE-DBBD-4DFC-8968-CA6809EA082F}" destId="{24C615FE-743A-4F4A-B469-BB88FE6DAAAD}" srcOrd="0" destOrd="0" presId="urn:microsoft.com/office/officeart/2018/2/layout/IconVerticalSolidList"/>
    <dgm:cxn modelId="{CA11C795-1D01-4BCA-9A61-736967A5A0AB}" type="presParOf" srcId="{6CB66FCE-DBBD-4DFC-8968-CA6809EA082F}" destId="{23848868-CB89-40D8-8BA7-3C4113F9BFEC}" srcOrd="1" destOrd="0" presId="urn:microsoft.com/office/officeart/2018/2/layout/IconVerticalSolidList"/>
    <dgm:cxn modelId="{D5EA0B49-DB50-4F65-9F65-BC1A513A7544}" type="presParOf" srcId="{6CB66FCE-DBBD-4DFC-8968-CA6809EA082F}" destId="{F11443F7-5B40-4907-A0F5-DAF7D0371F5C}" srcOrd="2" destOrd="0" presId="urn:microsoft.com/office/officeart/2018/2/layout/IconVerticalSolidList"/>
    <dgm:cxn modelId="{5E283ABC-3255-4340-BB37-0CEE459CE709}" type="presParOf" srcId="{6CB66FCE-DBBD-4DFC-8968-CA6809EA082F}" destId="{8D9556D4-7159-433E-AFB7-5FACE614E19C}" srcOrd="3" destOrd="0" presId="urn:microsoft.com/office/officeart/2018/2/layout/IconVerticalSolidList"/>
    <dgm:cxn modelId="{BDE79098-61B6-4BC1-85AA-FEA0FCED2C79}" type="presParOf" srcId="{3F73DFFC-D18F-4482-B218-F4D174E14985}" destId="{8B68AAC3-F096-425C-AAC8-1D165C522C18}" srcOrd="3" destOrd="0" presId="urn:microsoft.com/office/officeart/2018/2/layout/IconVerticalSolidList"/>
    <dgm:cxn modelId="{C3D2EF46-23CA-410C-9678-2D01E1793A7F}" type="presParOf" srcId="{3F73DFFC-D18F-4482-B218-F4D174E14985}" destId="{A7E3C402-55EC-4E98-8F00-0BA55B1A084C}" srcOrd="4" destOrd="0" presId="urn:microsoft.com/office/officeart/2018/2/layout/IconVerticalSolidList"/>
    <dgm:cxn modelId="{19276C35-8219-4487-85D2-BA9DE3579A47}" type="presParOf" srcId="{A7E3C402-55EC-4E98-8F00-0BA55B1A084C}" destId="{73835664-65DF-4424-AF65-6CB8C24F6B01}" srcOrd="0" destOrd="0" presId="urn:microsoft.com/office/officeart/2018/2/layout/IconVerticalSolidList"/>
    <dgm:cxn modelId="{4C4DFADD-E6EC-49BA-A917-F93451EA32F4}" type="presParOf" srcId="{A7E3C402-55EC-4E98-8F00-0BA55B1A084C}" destId="{5372DAF3-13C8-4A61-9636-1F8C38404DB2}" srcOrd="1" destOrd="0" presId="urn:microsoft.com/office/officeart/2018/2/layout/IconVerticalSolidList"/>
    <dgm:cxn modelId="{9246C59D-56D3-4514-A2DF-083D81736A2D}" type="presParOf" srcId="{A7E3C402-55EC-4E98-8F00-0BA55B1A084C}" destId="{D1C42848-D039-4849-87F0-95FFC1106066}" srcOrd="2" destOrd="0" presId="urn:microsoft.com/office/officeart/2018/2/layout/IconVerticalSolidList"/>
    <dgm:cxn modelId="{6E44C703-57BE-4A05-A87A-E2EDDAE2FA78}" type="presParOf" srcId="{A7E3C402-55EC-4E98-8F00-0BA55B1A084C}" destId="{5C5F1044-87B0-4CAA-8E0D-808168FB32F9}" srcOrd="3" destOrd="0" presId="urn:microsoft.com/office/officeart/2018/2/layout/IconVerticalSolidList"/>
    <dgm:cxn modelId="{C1AA203B-53D9-4652-A01E-043CF043140F}" type="presParOf" srcId="{3F73DFFC-D18F-4482-B218-F4D174E14985}" destId="{76B5D585-0C41-4ED9-9D4C-3E610E630C66}" srcOrd="5" destOrd="0" presId="urn:microsoft.com/office/officeart/2018/2/layout/IconVerticalSolidList"/>
    <dgm:cxn modelId="{339B14CC-516E-4EBE-8939-DD0A4D61442E}" type="presParOf" srcId="{3F73DFFC-D18F-4482-B218-F4D174E14985}" destId="{8A2010F9-4D48-4914-8857-F226E0087D3E}" srcOrd="6" destOrd="0" presId="urn:microsoft.com/office/officeart/2018/2/layout/IconVerticalSolidList"/>
    <dgm:cxn modelId="{9EC24FD6-3F6F-4FE6-AEA8-233ADD39B1A6}" type="presParOf" srcId="{8A2010F9-4D48-4914-8857-F226E0087D3E}" destId="{DF2A333A-D671-47CD-8A30-52C0B7D01678}" srcOrd="0" destOrd="0" presId="urn:microsoft.com/office/officeart/2018/2/layout/IconVerticalSolidList"/>
    <dgm:cxn modelId="{4F3CE09E-5426-4FE6-BC09-7596AB7030D3}" type="presParOf" srcId="{8A2010F9-4D48-4914-8857-F226E0087D3E}" destId="{4F6CA9FD-5311-4A3C-935C-68CB79C961E2}" srcOrd="1" destOrd="0" presId="urn:microsoft.com/office/officeart/2018/2/layout/IconVerticalSolidList"/>
    <dgm:cxn modelId="{86A6E6F6-36B9-4450-84BF-A3E17162BC65}" type="presParOf" srcId="{8A2010F9-4D48-4914-8857-F226E0087D3E}" destId="{429CFDB6-28A5-4F0E-BAD1-C89F7361534A}" srcOrd="2" destOrd="0" presId="urn:microsoft.com/office/officeart/2018/2/layout/IconVerticalSolidList"/>
    <dgm:cxn modelId="{8FCBE5E4-FAFB-44C4-9D40-501EBFD66B04}" type="presParOf" srcId="{8A2010F9-4D48-4914-8857-F226E0087D3E}" destId="{5C2818DD-FCAE-40B1-8BFE-20DEFB4CD54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3768238-552E-4F75-8EE0-8A4C319B26A1}" type="doc">
      <dgm:prSet loTypeId="urn:microsoft.com/office/officeart/2005/8/layout/hList1" loCatId="list" qsTypeId="urn:microsoft.com/office/officeart/2005/8/quickstyle/simple4" qsCatId="simple" csTypeId="urn:microsoft.com/office/officeart/2005/8/colors/accent0_3" csCatId="mainScheme"/>
      <dgm:spPr/>
      <dgm:t>
        <a:bodyPr/>
        <a:lstStyle/>
        <a:p>
          <a:endParaRPr lang="en-US"/>
        </a:p>
      </dgm:t>
    </dgm:pt>
    <dgm:pt modelId="{A89EC8EC-0489-4C78-B85C-1A68D181C0E8}">
      <dgm:prSet/>
      <dgm:spPr/>
      <dgm:t>
        <a:bodyPr/>
        <a:lstStyle/>
        <a:p>
          <a:pPr>
            <a:lnSpc>
              <a:spcPct val="100000"/>
            </a:lnSpc>
          </a:pPr>
          <a:r>
            <a:rPr lang="en-US" b="1"/>
            <a:t>What they are</a:t>
          </a:r>
          <a:endParaRPr lang="en-US"/>
        </a:p>
      </dgm:t>
    </dgm:pt>
    <dgm:pt modelId="{D7B8B769-2D8E-483D-89D2-7EEEDC74F956}" type="parTrans" cxnId="{585679C3-FE28-4CCC-9A5F-8F0DDA568492}">
      <dgm:prSet/>
      <dgm:spPr/>
      <dgm:t>
        <a:bodyPr/>
        <a:lstStyle/>
        <a:p>
          <a:endParaRPr lang="en-US"/>
        </a:p>
      </dgm:t>
    </dgm:pt>
    <dgm:pt modelId="{2200F329-EC05-4AC2-9654-F9A79019FF7C}" type="sibTrans" cxnId="{585679C3-FE28-4CCC-9A5F-8F0DDA568492}">
      <dgm:prSet/>
      <dgm:spPr/>
      <dgm:t>
        <a:bodyPr/>
        <a:lstStyle/>
        <a:p>
          <a:endParaRPr lang="en-US"/>
        </a:p>
      </dgm:t>
    </dgm:pt>
    <dgm:pt modelId="{3F5A506B-E466-4440-AB7F-45E4AA5D8CF8}">
      <dgm:prSet/>
      <dgm:spPr/>
      <dgm:t>
        <a:bodyPr/>
        <a:lstStyle/>
        <a:p>
          <a:pPr>
            <a:lnSpc>
              <a:spcPct val="100000"/>
            </a:lnSpc>
          </a:pPr>
          <a:r>
            <a:rPr lang="en-US"/>
            <a:t>A neural architecture that replaces recurrence with </a:t>
          </a:r>
          <a:r>
            <a:rPr lang="en-US" b="1"/>
            <a:t>self-attention</a:t>
          </a:r>
          <a:r>
            <a:rPr lang="en-US"/>
            <a:t>.</a:t>
          </a:r>
        </a:p>
      </dgm:t>
    </dgm:pt>
    <dgm:pt modelId="{8C38B2DF-2C25-4480-908E-414C6BFA584A}" type="parTrans" cxnId="{4CC37517-8861-469E-ABB3-A650EB7324F5}">
      <dgm:prSet/>
      <dgm:spPr/>
      <dgm:t>
        <a:bodyPr/>
        <a:lstStyle/>
        <a:p>
          <a:endParaRPr lang="en-US"/>
        </a:p>
      </dgm:t>
    </dgm:pt>
    <dgm:pt modelId="{86B0763A-AC57-46FA-944F-17E918E9B90D}" type="sibTrans" cxnId="{4CC37517-8861-469E-ABB3-A650EB7324F5}">
      <dgm:prSet/>
      <dgm:spPr/>
      <dgm:t>
        <a:bodyPr/>
        <a:lstStyle/>
        <a:p>
          <a:endParaRPr lang="en-US"/>
        </a:p>
      </dgm:t>
    </dgm:pt>
    <dgm:pt modelId="{92AB7E92-A74E-4B13-9136-B91A1BA7A9AC}">
      <dgm:prSet/>
      <dgm:spPr/>
      <dgm:t>
        <a:bodyPr/>
        <a:lstStyle/>
        <a:p>
          <a:pPr>
            <a:lnSpc>
              <a:spcPct val="100000"/>
            </a:lnSpc>
          </a:pPr>
          <a:r>
            <a:rPr lang="en-US"/>
            <a:t>Looks at </a:t>
          </a:r>
          <a:r>
            <a:rPr lang="en-US" b="1"/>
            <a:t>all tokens at once</a:t>
          </a:r>
          <a:r>
            <a:rPr lang="en-US"/>
            <a:t> and learns which words should pay attention to which other words.</a:t>
          </a:r>
        </a:p>
      </dgm:t>
    </dgm:pt>
    <dgm:pt modelId="{4413DE52-7A36-4BD9-BAD7-63F325822BE2}" type="parTrans" cxnId="{82363299-9DB7-4462-A1CD-A2EBA7133460}">
      <dgm:prSet/>
      <dgm:spPr/>
      <dgm:t>
        <a:bodyPr/>
        <a:lstStyle/>
        <a:p>
          <a:endParaRPr lang="en-US"/>
        </a:p>
      </dgm:t>
    </dgm:pt>
    <dgm:pt modelId="{B1317BE8-E7C0-4F0A-89AA-6096C7EBAAEC}" type="sibTrans" cxnId="{82363299-9DB7-4462-A1CD-A2EBA7133460}">
      <dgm:prSet/>
      <dgm:spPr/>
      <dgm:t>
        <a:bodyPr/>
        <a:lstStyle/>
        <a:p>
          <a:endParaRPr lang="en-US"/>
        </a:p>
      </dgm:t>
    </dgm:pt>
    <dgm:pt modelId="{C4C9135E-3AE8-450C-B210-963A858783F5}">
      <dgm:prSet/>
      <dgm:spPr/>
      <dgm:t>
        <a:bodyPr/>
        <a:lstStyle/>
        <a:p>
          <a:pPr>
            <a:lnSpc>
              <a:spcPct val="100000"/>
            </a:lnSpc>
          </a:pPr>
          <a:r>
            <a:rPr lang="en-US" b="1"/>
            <a:t>Core ideas</a:t>
          </a:r>
          <a:endParaRPr lang="en-US"/>
        </a:p>
      </dgm:t>
    </dgm:pt>
    <dgm:pt modelId="{42F83B55-0890-40AE-B2DC-C6F1B145646B}" type="parTrans" cxnId="{99695FBB-989B-4FCB-BA79-545A2C0C8658}">
      <dgm:prSet/>
      <dgm:spPr/>
      <dgm:t>
        <a:bodyPr/>
        <a:lstStyle/>
        <a:p>
          <a:endParaRPr lang="en-US"/>
        </a:p>
      </dgm:t>
    </dgm:pt>
    <dgm:pt modelId="{B369D4E2-C640-4C2F-A013-69AC2E6755B8}" type="sibTrans" cxnId="{99695FBB-989B-4FCB-BA79-545A2C0C8658}">
      <dgm:prSet/>
      <dgm:spPr/>
      <dgm:t>
        <a:bodyPr/>
        <a:lstStyle/>
        <a:p>
          <a:endParaRPr lang="en-US"/>
        </a:p>
      </dgm:t>
    </dgm:pt>
    <dgm:pt modelId="{9BD9AA54-B03B-4D94-80B2-0BD8744AD5D4}">
      <dgm:prSet/>
      <dgm:spPr/>
      <dgm:t>
        <a:bodyPr/>
        <a:lstStyle/>
        <a:p>
          <a:pPr>
            <a:lnSpc>
              <a:spcPct val="100000"/>
            </a:lnSpc>
          </a:pPr>
          <a:r>
            <a:rPr lang="en-US" b="1"/>
            <a:t>Token → Embedding:</a:t>
          </a:r>
          <a:r>
            <a:rPr lang="en-US"/>
            <a:t> turn words/sub-words/emojis/hashtags into vectors.</a:t>
          </a:r>
        </a:p>
      </dgm:t>
    </dgm:pt>
    <dgm:pt modelId="{013C4594-DD3E-4351-BA32-E5CA3F7405A3}" type="parTrans" cxnId="{F1B78714-4EC6-4A73-ADE5-2490F6052E1D}">
      <dgm:prSet/>
      <dgm:spPr/>
      <dgm:t>
        <a:bodyPr/>
        <a:lstStyle/>
        <a:p>
          <a:endParaRPr lang="en-US"/>
        </a:p>
      </dgm:t>
    </dgm:pt>
    <dgm:pt modelId="{1FDB9EEC-38D8-448C-B393-66BEAD700363}" type="sibTrans" cxnId="{F1B78714-4EC6-4A73-ADE5-2490F6052E1D}">
      <dgm:prSet/>
      <dgm:spPr/>
      <dgm:t>
        <a:bodyPr/>
        <a:lstStyle/>
        <a:p>
          <a:endParaRPr lang="en-US"/>
        </a:p>
      </dgm:t>
    </dgm:pt>
    <dgm:pt modelId="{798ECEBB-DCA3-49D9-8BBD-14645D238238}">
      <dgm:prSet/>
      <dgm:spPr/>
      <dgm:t>
        <a:bodyPr/>
        <a:lstStyle/>
        <a:p>
          <a:pPr>
            <a:lnSpc>
              <a:spcPct val="100000"/>
            </a:lnSpc>
          </a:pPr>
          <a:r>
            <a:rPr lang="en-US" b="1"/>
            <a:t>Positional encoding:</a:t>
          </a:r>
          <a:r>
            <a:rPr lang="en-US"/>
            <a:t> add order info (since there’s no recurrence).</a:t>
          </a:r>
        </a:p>
      </dgm:t>
    </dgm:pt>
    <dgm:pt modelId="{66B49704-4AD7-4A37-B1CD-6DE74BE4F8B0}" type="parTrans" cxnId="{9BD8E4D7-D64F-4FF4-A1C5-11F8F758C065}">
      <dgm:prSet/>
      <dgm:spPr/>
      <dgm:t>
        <a:bodyPr/>
        <a:lstStyle/>
        <a:p>
          <a:endParaRPr lang="en-US"/>
        </a:p>
      </dgm:t>
    </dgm:pt>
    <dgm:pt modelId="{4EFD0A37-1B29-4BF9-BE9A-526CEA769CE9}" type="sibTrans" cxnId="{9BD8E4D7-D64F-4FF4-A1C5-11F8F758C065}">
      <dgm:prSet/>
      <dgm:spPr/>
      <dgm:t>
        <a:bodyPr/>
        <a:lstStyle/>
        <a:p>
          <a:endParaRPr lang="en-US"/>
        </a:p>
      </dgm:t>
    </dgm:pt>
    <dgm:pt modelId="{68F29CBD-839D-48E3-9F1A-2A70E9C3301A}">
      <dgm:prSet/>
      <dgm:spPr/>
      <dgm:t>
        <a:bodyPr/>
        <a:lstStyle/>
        <a:p>
          <a:pPr>
            <a:lnSpc>
              <a:spcPct val="100000"/>
            </a:lnSpc>
          </a:pPr>
          <a:r>
            <a:rPr lang="en-US" b="1"/>
            <a:t>Self-attention:</a:t>
          </a:r>
          <a:r>
            <a:rPr lang="en-US"/>
            <a:t> each token forms a </a:t>
          </a:r>
          <a:r>
            <a:rPr lang="en-US" b="1"/>
            <a:t>weighted average</a:t>
          </a:r>
          <a:r>
            <a:rPr lang="en-US"/>
            <a:t> of all tokens; weights = “how relevant is token j to token i?”</a:t>
          </a:r>
        </a:p>
      </dgm:t>
    </dgm:pt>
    <dgm:pt modelId="{F78539A1-5873-4C36-B5A0-5A07348E9A65}" type="parTrans" cxnId="{D16A5A80-8FC0-4DF7-886B-053191D9481E}">
      <dgm:prSet/>
      <dgm:spPr/>
      <dgm:t>
        <a:bodyPr/>
        <a:lstStyle/>
        <a:p>
          <a:endParaRPr lang="en-US"/>
        </a:p>
      </dgm:t>
    </dgm:pt>
    <dgm:pt modelId="{39C1505F-30F6-48F4-ABF7-6DA452E47055}" type="sibTrans" cxnId="{D16A5A80-8FC0-4DF7-886B-053191D9481E}">
      <dgm:prSet/>
      <dgm:spPr/>
      <dgm:t>
        <a:bodyPr/>
        <a:lstStyle/>
        <a:p>
          <a:endParaRPr lang="en-US"/>
        </a:p>
      </dgm:t>
    </dgm:pt>
    <dgm:pt modelId="{4178489E-95C3-4649-9EA8-2F2B105D4230}">
      <dgm:prSet/>
      <dgm:spPr/>
      <dgm:t>
        <a:bodyPr/>
        <a:lstStyle/>
        <a:p>
          <a:pPr>
            <a:lnSpc>
              <a:spcPct val="100000"/>
            </a:lnSpc>
          </a:pPr>
          <a:r>
            <a:rPr lang="en-US" b="1"/>
            <a:t>Stacks of layers:</a:t>
          </a:r>
          <a:r>
            <a:rPr lang="en-US"/>
            <a:t> repeat attention + small feed-forward nets → rich contextual representations.</a:t>
          </a:r>
        </a:p>
      </dgm:t>
    </dgm:pt>
    <dgm:pt modelId="{DC0867EE-9F2A-4341-9285-906CF2B2A378}" type="parTrans" cxnId="{9F88DC9D-1C9D-401B-8126-D1541BB42FE8}">
      <dgm:prSet/>
      <dgm:spPr/>
      <dgm:t>
        <a:bodyPr/>
        <a:lstStyle/>
        <a:p>
          <a:endParaRPr lang="en-US"/>
        </a:p>
      </dgm:t>
    </dgm:pt>
    <dgm:pt modelId="{2BA8A67E-C54F-46F2-83EC-48C5782F11F5}" type="sibTrans" cxnId="{9F88DC9D-1C9D-401B-8126-D1541BB42FE8}">
      <dgm:prSet/>
      <dgm:spPr/>
      <dgm:t>
        <a:bodyPr/>
        <a:lstStyle/>
        <a:p>
          <a:endParaRPr lang="en-US"/>
        </a:p>
      </dgm:t>
    </dgm:pt>
    <dgm:pt modelId="{55FC5C30-107D-4F2D-9ADF-D1DD9E8901A0}">
      <dgm:prSet/>
      <dgm:spPr/>
      <dgm:t>
        <a:bodyPr/>
        <a:lstStyle/>
        <a:p>
          <a:pPr>
            <a:lnSpc>
              <a:spcPct val="100000"/>
            </a:lnSpc>
          </a:pPr>
          <a:r>
            <a:rPr lang="en-US" b="1"/>
            <a:t>Why they beat RNN/LSTM on text</a:t>
          </a:r>
          <a:endParaRPr lang="en-US"/>
        </a:p>
      </dgm:t>
    </dgm:pt>
    <dgm:pt modelId="{0A70F2B9-1AA3-49F4-887E-9C0E573DE528}" type="parTrans" cxnId="{217A5ED6-9E11-4A9E-A8F4-53803DC57710}">
      <dgm:prSet/>
      <dgm:spPr/>
      <dgm:t>
        <a:bodyPr/>
        <a:lstStyle/>
        <a:p>
          <a:endParaRPr lang="en-US"/>
        </a:p>
      </dgm:t>
    </dgm:pt>
    <dgm:pt modelId="{F1A8B10A-82A8-4147-9579-E3606F96E777}" type="sibTrans" cxnId="{217A5ED6-9E11-4A9E-A8F4-53803DC57710}">
      <dgm:prSet/>
      <dgm:spPr/>
      <dgm:t>
        <a:bodyPr/>
        <a:lstStyle/>
        <a:p>
          <a:endParaRPr lang="en-US"/>
        </a:p>
      </dgm:t>
    </dgm:pt>
    <dgm:pt modelId="{20FDC58A-8940-4294-B91E-A67B52EBD085}">
      <dgm:prSet/>
      <dgm:spPr/>
      <dgm:t>
        <a:bodyPr/>
        <a:lstStyle/>
        <a:p>
          <a:pPr>
            <a:lnSpc>
              <a:spcPct val="100000"/>
            </a:lnSpc>
          </a:pPr>
          <a:r>
            <a:rPr lang="en-US"/>
            <a:t>Parallel over tokens ⇒ </a:t>
          </a:r>
          <a:r>
            <a:rPr lang="en-US" b="1"/>
            <a:t>faster training</a:t>
          </a:r>
          <a:r>
            <a:rPr lang="en-US"/>
            <a:t>.</a:t>
          </a:r>
        </a:p>
      </dgm:t>
    </dgm:pt>
    <dgm:pt modelId="{B50A7FF3-DB00-4270-89EF-2718F55808E9}" type="parTrans" cxnId="{7E608B01-2F2E-49D3-9E26-8FA24BC9955D}">
      <dgm:prSet/>
      <dgm:spPr/>
      <dgm:t>
        <a:bodyPr/>
        <a:lstStyle/>
        <a:p>
          <a:endParaRPr lang="en-US"/>
        </a:p>
      </dgm:t>
    </dgm:pt>
    <dgm:pt modelId="{FFDA81B9-4206-458D-A68C-2503EEA980AC}" type="sibTrans" cxnId="{7E608B01-2F2E-49D3-9E26-8FA24BC9955D}">
      <dgm:prSet/>
      <dgm:spPr/>
      <dgm:t>
        <a:bodyPr/>
        <a:lstStyle/>
        <a:p>
          <a:endParaRPr lang="en-US"/>
        </a:p>
      </dgm:t>
    </dgm:pt>
    <dgm:pt modelId="{96B6D50F-C5FA-4607-9234-0C92595A3E22}">
      <dgm:prSet/>
      <dgm:spPr/>
      <dgm:t>
        <a:bodyPr/>
        <a:lstStyle/>
        <a:p>
          <a:pPr>
            <a:lnSpc>
              <a:spcPct val="100000"/>
            </a:lnSpc>
          </a:pPr>
          <a:r>
            <a:rPr lang="en-US"/>
            <a:t>Can model </a:t>
          </a:r>
          <a:r>
            <a:rPr lang="en-US" b="1"/>
            <a:t>long-range dependencies</a:t>
          </a:r>
          <a:r>
            <a:rPr lang="en-US"/>
            <a:t> (e.g., “not … good”).</a:t>
          </a:r>
        </a:p>
      </dgm:t>
    </dgm:pt>
    <dgm:pt modelId="{7492410E-DB53-4AB2-86B0-21DF28520A90}" type="parTrans" cxnId="{37D13D36-4841-411D-90B1-56B3F9C8C2C2}">
      <dgm:prSet/>
      <dgm:spPr/>
      <dgm:t>
        <a:bodyPr/>
        <a:lstStyle/>
        <a:p>
          <a:endParaRPr lang="en-US"/>
        </a:p>
      </dgm:t>
    </dgm:pt>
    <dgm:pt modelId="{2895A954-E430-4132-8574-CACEA0C7931B}" type="sibTrans" cxnId="{37D13D36-4841-411D-90B1-56B3F9C8C2C2}">
      <dgm:prSet/>
      <dgm:spPr/>
      <dgm:t>
        <a:bodyPr/>
        <a:lstStyle/>
        <a:p>
          <a:endParaRPr lang="en-US"/>
        </a:p>
      </dgm:t>
    </dgm:pt>
    <dgm:pt modelId="{9ADC9DA0-F26B-47AD-9D3C-2A8A6B9332C8}">
      <dgm:prSet/>
      <dgm:spPr/>
      <dgm:t>
        <a:bodyPr/>
        <a:lstStyle/>
        <a:p>
          <a:pPr>
            <a:lnSpc>
              <a:spcPct val="100000"/>
            </a:lnSpc>
          </a:pPr>
          <a:r>
            <a:rPr lang="en-US"/>
            <a:t>Scale well (BERT, GPT, T5…).</a:t>
          </a:r>
        </a:p>
      </dgm:t>
    </dgm:pt>
    <dgm:pt modelId="{AE037505-1C04-4298-AE2E-55D7C7809C1D}" type="parTrans" cxnId="{89F3F2D5-CB3B-4249-9C37-B048B296EB51}">
      <dgm:prSet/>
      <dgm:spPr/>
      <dgm:t>
        <a:bodyPr/>
        <a:lstStyle/>
        <a:p>
          <a:endParaRPr lang="en-US"/>
        </a:p>
      </dgm:t>
    </dgm:pt>
    <dgm:pt modelId="{DBE5392E-4B28-4FEA-B971-EE392D774222}" type="sibTrans" cxnId="{89F3F2D5-CB3B-4249-9C37-B048B296EB51}">
      <dgm:prSet/>
      <dgm:spPr/>
      <dgm:t>
        <a:bodyPr/>
        <a:lstStyle/>
        <a:p>
          <a:endParaRPr lang="en-US"/>
        </a:p>
      </dgm:t>
    </dgm:pt>
    <dgm:pt modelId="{233A7C00-E967-43FB-954A-3C4368D82F2C}">
      <dgm:prSet/>
      <dgm:spPr/>
      <dgm:t>
        <a:bodyPr/>
        <a:lstStyle/>
        <a:p>
          <a:pPr>
            <a:lnSpc>
              <a:spcPct val="100000"/>
            </a:lnSpc>
          </a:pPr>
          <a:r>
            <a:rPr lang="en-US" b="1"/>
            <a:t>How we use them here</a:t>
          </a:r>
          <a:endParaRPr lang="en-US"/>
        </a:p>
      </dgm:t>
    </dgm:pt>
    <dgm:pt modelId="{31579548-465D-4C61-BA6E-A9A98A1E23FC}" type="parTrans" cxnId="{298F6CEB-073E-4CF0-A29B-B57868B4F2B8}">
      <dgm:prSet/>
      <dgm:spPr/>
      <dgm:t>
        <a:bodyPr/>
        <a:lstStyle/>
        <a:p>
          <a:endParaRPr lang="en-US"/>
        </a:p>
      </dgm:t>
    </dgm:pt>
    <dgm:pt modelId="{27DE5295-4540-4E66-8199-8B39B75FDDAB}" type="sibTrans" cxnId="{298F6CEB-073E-4CF0-A29B-B57868B4F2B8}">
      <dgm:prSet/>
      <dgm:spPr/>
      <dgm:t>
        <a:bodyPr/>
        <a:lstStyle/>
        <a:p>
          <a:endParaRPr lang="en-US"/>
        </a:p>
      </dgm:t>
    </dgm:pt>
    <dgm:pt modelId="{87FBA8FC-C174-4893-B829-ED50DC6E7191}">
      <dgm:prSet/>
      <dgm:spPr/>
      <dgm:t>
        <a:bodyPr/>
        <a:lstStyle/>
        <a:p>
          <a:pPr>
            <a:lnSpc>
              <a:spcPct val="100000"/>
            </a:lnSpc>
          </a:pPr>
          <a:r>
            <a:rPr lang="en-US"/>
            <a:t>Start from a </a:t>
          </a:r>
          <a:r>
            <a:rPr lang="en-US" b="1"/>
            <a:t>pretrained</a:t>
          </a:r>
          <a:r>
            <a:rPr lang="en-US"/>
            <a:t> model (learned from huge text).</a:t>
          </a:r>
        </a:p>
      </dgm:t>
    </dgm:pt>
    <dgm:pt modelId="{A5C73015-67A0-403D-ACDB-B4C9B1B2B3BC}" type="parTrans" cxnId="{3475D5EB-1B01-49AB-A9B6-DD8749253A27}">
      <dgm:prSet/>
      <dgm:spPr/>
      <dgm:t>
        <a:bodyPr/>
        <a:lstStyle/>
        <a:p>
          <a:endParaRPr lang="en-US"/>
        </a:p>
      </dgm:t>
    </dgm:pt>
    <dgm:pt modelId="{9921D16D-C7D2-4D9F-8185-A0720A792548}" type="sibTrans" cxnId="{3475D5EB-1B01-49AB-A9B6-DD8749253A27}">
      <dgm:prSet/>
      <dgm:spPr/>
      <dgm:t>
        <a:bodyPr/>
        <a:lstStyle/>
        <a:p>
          <a:endParaRPr lang="en-US"/>
        </a:p>
      </dgm:t>
    </dgm:pt>
    <dgm:pt modelId="{E048183A-0097-48F9-9F39-4BD68F1FA9F1}">
      <dgm:prSet/>
      <dgm:spPr/>
      <dgm:t>
        <a:bodyPr/>
        <a:lstStyle/>
        <a:p>
          <a:pPr>
            <a:lnSpc>
              <a:spcPct val="100000"/>
            </a:lnSpc>
          </a:pPr>
          <a:r>
            <a:rPr lang="en-US" b="1"/>
            <a:t>Fine-tune</a:t>
          </a:r>
          <a:r>
            <a:rPr lang="en-US"/>
            <a:t> a small classifier head on Kaggle tweets (disaster vs not).</a:t>
          </a:r>
        </a:p>
      </dgm:t>
    </dgm:pt>
    <dgm:pt modelId="{B80FCEB3-E466-4569-A580-594379CCE8B7}" type="parTrans" cxnId="{916C6E04-9CC1-4103-AF5C-8425A1506CEB}">
      <dgm:prSet/>
      <dgm:spPr/>
      <dgm:t>
        <a:bodyPr/>
        <a:lstStyle/>
        <a:p>
          <a:endParaRPr lang="en-US"/>
        </a:p>
      </dgm:t>
    </dgm:pt>
    <dgm:pt modelId="{79AA9652-1C79-4AFB-9388-AC081CA311A9}" type="sibTrans" cxnId="{916C6E04-9CC1-4103-AF5C-8425A1506CEB}">
      <dgm:prSet/>
      <dgm:spPr/>
      <dgm:t>
        <a:bodyPr/>
        <a:lstStyle/>
        <a:p>
          <a:endParaRPr lang="en-US"/>
        </a:p>
      </dgm:t>
    </dgm:pt>
    <dgm:pt modelId="{11D86D7F-3CA8-4ECF-AC6A-DFCF5A699590}">
      <dgm:prSet/>
      <dgm:spPr/>
      <dgm:t>
        <a:bodyPr/>
        <a:lstStyle/>
        <a:p>
          <a:r>
            <a:rPr lang="en-US"/>
            <a:t>DistilBERT: general English.</a:t>
          </a:r>
        </a:p>
      </dgm:t>
    </dgm:pt>
    <dgm:pt modelId="{676CE97F-2627-4F13-81CB-FC770E970550}" type="parTrans" cxnId="{2419E03D-6FA3-49D3-B077-2341C0DB45E9}">
      <dgm:prSet/>
      <dgm:spPr/>
      <dgm:t>
        <a:bodyPr/>
        <a:lstStyle/>
        <a:p>
          <a:endParaRPr lang="en-US"/>
        </a:p>
      </dgm:t>
    </dgm:pt>
    <dgm:pt modelId="{F5B97DF6-0C02-4B49-9014-A130779E6037}" type="sibTrans" cxnId="{2419E03D-6FA3-49D3-B077-2341C0DB45E9}">
      <dgm:prSet/>
      <dgm:spPr/>
      <dgm:t>
        <a:bodyPr/>
        <a:lstStyle/>
        <a:p>
          <a:endParaRPr lang="en-US"/>
        </a:p>
      </dgm:t>
    </dgm:pt>
    <dgm:pt modelId="{F0F1DC36-F242-42DF-9EDB-6F8917E09D38}">
      <dgm:prSet/>
      <dgm:spPr/>
      <dgm:t>
        <a:bodyPr/>
        <a:lstStyle/>
        <a:p>
          <a:r>
            <a:rPr lang="en-US" b="1"/>
            <a:t>BERTweet:</a:t>
          </a:r>
          <a:r>
            <a:rPr lang="en-US"/>
            <a:t> pretrained on Twitter; understands hashtags, emojis, slang.</a:t>
          </a:r>
        </a:p>
      </dgm:t>
    </dgm:pt>
    <dgm:pt modelId="{9E7849F6-3FCA-4309-8DF4-36508FF1FB8F}" type="parTrans" cxnId="{2B15D2F3-0AF5-4986-9810-C5CE26F59301}">
      <dgm:prSet/>
      <dgm:spPr/>
      <dgm:t>
        <a:bodyPr/>
        <a:lstStyle/>
        <a:p>
          <a:endParaRPr lang="en-US"/>
        </a:p>
      </dgm:t>
    </dgm:pt>
    <dgm:pt modelId="{97FDEB3C-8949-43BF-8B0F-3DC2D64D65D6}" type="sibTrans" cxnId="{2B15D2F3-0AF5-4986-9810-C5CE26F59301}">
      <dgm:prSet/>
      <dgm:spPr/>
      <dgm:t>
        <a:bodyPr/>
        <a:lstStyle/>
        <a:p>
          <a:endParaRPr lang="en-US"/>
        </a:p>
      </dgm:t>
    </dgm:pt>
    <dgm:pt modelId="{9CCCFF6D-BD94-4CAA-9DE3-FF99245C2576}" type="pres">
      <dgm:prSet presAssocID="{73768238-552E-4F75-8EE0-8A4C319B26A1}" presName="Name0" presStyleCnt="0">
        <dgm:presLayoutVars>
          <dgm:dir/>
          <dgm:animLvl val="lvl"/>
          <dgm:resizeHandles val="exact"/>
        </dgm:presLayoutVars>
      </dgm:prSet>
      <dgm:spPr/>
    </dgm:pt>
    <dgm:pt modelId="{B1C6DD39-CD7F-4C7F-98DE-62442F9A1808}" type="pres">
      <dgm:prSet presAssocID="{A89EC8EC-0489-4C78-B85C-1A68D181C0E8}" presName="composite" presStyleCnt="0"/>
      <dgm:spPr/>
    </dgm:pt>
    <dgm:pt modelId="{E49829DC-19BF-47CE-B824-EA1375CDE3DD}" type="pres">
      <dgm:prSet presAssocID="{A89EC8EC-0489-4C78-B85C-1A68D181C0E8}" presName="parTx" presStyleLbl="alignNode1" presStyleIdx="0" presStyleCnt="4">
        <dgm:presLayoutVars>
          <dgm:chMax val="0"/>
          <dgm:chPref val="0"/>
          <dgm:bulletEnabled val="1"/>
        </dgm:presLayoutVars>
      </dgm:prSet>
      <dgm:spPr/>
    </dgm:pt>
    <dgm:pt modelId="{C40512F3-5B83-46AA-A3B2-847F42D53FBF}" type="pres">
      <dgm:prSet presAssocID="{A89EC8EC-0489-4C78-B85C-1A68D181C0E8}" presName="desTx" presStyleLbl="alignAccFollowNode1" presStyleIdx="0" presStyleCnt="4">
        <dgm:presLayoutVars>
          <dgm:bulletEnabled val="1"/>
        </dgm:presLayoutVars>
      </dgm:prSet>
      <dgm:spPr/>
    </dgm:pt>
    <dgm:pt modelId="{14D10B2B-5220-4A78-A896-FD6EA3AE7D91}" type="pres">
      <dgm:prSet presAssocID="{2200F329-EC05-4AC2-9654-F9A79019FF7C}" presName="space" presStyleCnt="0"/>
      <dgm:spPr/>
    </dgm:pt>
    <dgm:pt modelId="{458A5682-F200-4261-BA51-A0146D86FB04}" type="pres">
      <dgm:prSet presAssocID="{C4C9135E-3AE8-450C-B210-963A858783F5}" presName="composite" presStyleCnt="0"/>
      <dgm:spPr/>
    </dgm:pt>
    <dgm:pt modelId="{71512806-4278-447F-843A-A5ECD9FD3345}" type="pres">
      <dgm:prSet presAssocID="{C4C9135E-3AE8-450C-B210-963A858783F5}" presName="parTx" presStyleLbl="alignNode1" presStyleIdx="1" presStyleCnt="4">
        <dgm:presLayoutVars>
          <dgm:chMax val="0"/>
          <dgm:chPref val="0"/>
          <dgm:bulletEnabled val="1"/>
        </dgm:presLayoutVars>
      </dgm:prSet>
      <dgm:spPr/>
    </dgm:pt>
    <dgm:pt modelId="{D936007A-C8FC-45B4-8484-39CD1CEBCEB2}" type="pres">
      <dgm:prSet presAssocID="{C4C9135E-3AE8-450C-B210-963A858783F5}" presName="desTx" presStyleLbl="alignAccFollowNode1" presStyleIdx="1" presStyleCnt="4">
        <dgm:presLayoutVars>
          <dgm:bulletEnabled val="1"/>
        </dgm:presLayoutVars>
      </dgm:prSet>
      <dgm:spPr/>
    </dgm:pt>
    <dgm:pt modelId="{D3D1BA4B-0B8F-4121-AFBB-7AC70F5017AE}" type="pres">
      <dgm:prSet presAssocID="{B369D4E2-C640-4C2F-A013-69AC2E6755B8}" presName="space" presStyleCnt="0"/>
      <dgm:spPr/>
    </dgm:pt>
    <dgm:pt modelId="{5F46904D-37A1-418B-BB6B-234A57F152FF}" type="pres">
      <dgm:prSet presAssocID="{55FC5C30-107D-4F2D-9ADF-D1DD9E8901A0}" presName="composite" presStyleCnt="0"/>
      <dgm:spPr/>
    </dgm:pt>
    <dgm:pt modelId="{381A4638-C968-460D-A300-4E5D876A2982}" type="pres">
      <dgm:prSet presAssocID="{55FC5C30-107D-4F2D-9ADF-D1DD9E8901A0}" presName="parTx" presStyleLbl="alignNode1" presStyleIdx="2" presStyleCnt="4">
        <dgm:presLayoutVars>
          <dgm:chMax val="0"/>
          <dgm:chPref val="0"/>
          <dgm:bulletEnabled val="1"/>
        </dgm:presLayoutVars>
      </dgm:prSet>
      <dgm:spPr/>
    </dgm:pt>
    <dgm:pt modelId="{9BDCC98B-EB3A-465D-B9E5-A375C760B1B7}" type="pres">
      <dgm:prSet presAssocID="{55FC5C30-107D-4F2D-9ADF-D1DD9E8901A0}" presName="desTx" presStyleLbl="alignAccFollowNode1" presStyleIdx="2" presStyleCnt="4">
        <dgm:presLayoutVars>
          <dgm:bulletEnabled val="1"/>
        </dgm:presLayoutVars>
      </dgm:prSet>
      <dgm:spPr/>
    </dgm:pt>
    <dgm:pt modelId="{24B6CD6B-BF9B-4501-8097-6A1A19E99C76}" type="pres">
      <dgm:prSet presAssocID="{F1A8B10A-82A8-4147-9579-E3606F96E777}" presName="space" presStyleCnt="0"/>
      <dgm:spPr/>
    </dgm:pt>
    <dgm:pt modelId="{2D7604A2-502B-4173-AF53-5E6D6FFDF2EB}" type="pres">
      <dgm:prSet presAssocID="{233A7C00-E967-43FB-954A-3C4368D82F2C}" presName="composite" presStyleCnt="0"/>
      <dgm:spPr/>
    </dgm:pt>
    <dgm:pt modelId="{041D6D87-00DB-4376-8A46-A6393C69D737}" type="pres">
      <dgm:prSet presAssocID="{233A7C00-E967-43FB-954A-3C4368D82F2C}" presName="parTx" presStyleLbl="alignNode1" presStyleIdx="3" presStyleCnt="4">
        <dgm:presLayoutVars>
          <dgm:chMax val="0"/>
          <dgm:chPref val="0"/>
          <dgm:bulletEnabled val="1"/>
        </dgm:presLayoutVars>
      </dgm:prSet>
      <dgm:spPr/>
    </dgm:pt>
    <dgm:pt modelId="{B2D38174-3859-4359-8EBA-9019BB9F3682}" type="pres">
      <dgm:prSet presAssocID="{233A7C00-E967-43FB-954A-3C4368D82F2C}" presName="desTx" presStyleLbl="alignAccFollowNode1" presStyleIdx="3" presStyleCnt="4">
        <dgm:presLayoutVars>
          <dgm:bulletEnabled val="1"/>
        </dgm:presLayoutVars>
      </dgm:prSet>
      <dgm:spPr/>
    </dgm:pt>
  </dgm:ptLst>
  <dgm:cxnLst>
    <dgm:cxn modelId="{7E608B01-2F2E-49D3-9E26-8FA24BC9955D}" srcId="{55FC5C30-107D-4F2D-9ADF-D1DD9E8901A0}" destId="{20FDC58A-8940-4294-B91E-A67B52EBD085}" srcOrd="0" destOrd="0" parTransId="{B50A7FF3-DB00-4270-89EF-2718F55808E9}" sibTransId="{FFDA81B9-4206-458D-A68C-2503EEA980AC}"/>
    <dgm:cxn modelId="{916C6E04-9CC1-4103-AF5C-8425A1506CEB}" srcId="{233A7C00-E967-43FB-954A-3C4368D82F2C}" destId="{E048183A-0097-48F9-9F39-4BD68F1FA9F1}" srcOrd="1" destOrd="0" parTransId="{B80FCEB3-E466-4569-A580-594379CCE8B7}" sibTransId="{79AA9652-1C79-4AFB-9388-AC081CA311A9}"/>
    <dgm:cxn modelId="{3F28D907-62A6-44DD-BDF2-87B3C30BA2A3}" type="presOf" srcId="{A89EC8EC-0489-4C78-B85C-1A68D181C0E8}" destId="{E49829DC-19BF-47CE-B824-EA1375CDE3DD}" srcOrd="0" destOrd="0" presId="urn:microsoft.com/office/officeart/2005/8/layout/hList1"/>
    <dgm:cxn modelId="{B87E5A0C-6FF5-4F0B-8BDF-04F04F2AD43B}" type="presOf" srcId="{68F29CBD-839D-48E3-9F1A-2A70E9C3301A}" destId="{D936007A-C8FC-45B4-8484-39CD1CEBCEB2}" srcOrd="0" destOrd="2" presId="urn:microsoft.com/office/officeart/2005/8/layout/hList1"/>
    <dgm:cxn modelId="{F1B78714-4EC6-4A73-ADE5-2490F6052E1D}" srcId="{C4C9135E-3AE8-450C-B210-963A858783F5}" destId="{9BD9AA54-B03B-4D94-80B2-0BD8744AD5D4}" srcOrd="0" destOrd="0" parTransId="{013C4594-DD3E-4351-BA32-E5CA3F7405A3}" sibTransId="{1FDB9EEC-38D8-448C-B393-66BEAD700363}"/>
    <dgm:cxn modelId="{4CC37517-8861-469E-ABB3-A650EB7324F5}" srcId="{A89EC8EC-0489-4C78-B85C-1A68D181C0E8}" destId="{3F5A506B-E466-4440-AB7F-45E4AA5D8CF8}" srcOrd="0" destOrd="0" parTransId="{8C38B2DF-2C25-4480-908E-414C6BFA584A}" sibTransId="{86B0763A-AC57-46FA-944F-17E918E9B90D}"/>
    <dgm:cxn modelId="{37D13D36-4841-411D-90B1-56B3F9C8C2C2}" srcId="{55FC5C30-107D-4F2D-9ADF-D1DD9E8901A0}" destId="{96B6D50F-C5FA-4607-9234-0C92595A3E22}" srcOrd="1" destOrd="0" parTransId="{7492410E-DB53-4AB2-86B0-21DF28520A90}" sibTransId="{2895A954-E430-4132-8574-CACEA0C7931B}"/>
    <dgm:cxn modelId="{2419E03D-6FA3-49D3-B077-2341C0DB45E9}" srcId="{E048183A-0097-48F9-9F39-4BD68F1FA9F1}" destId="{11D86D7F-3CA8-4ECF-AC6A-DFCF5A699590}" srcOrd="0" destOrd="0" parTransId="{676CE97F-2627-4F13-81CB-FC770E970550}" sibTransId="{F5B97DF6-0C02-4B49-9014-A130779E6037}"/>
    <dgm:cxn modelId="{A165166C-60FE-4C61-8341-CF414C765D9E}" type="presOf" srcId="{9BD9AA54-B03B-4D94-80B2-0BD8744AD5D4}" destId="{D936007A-C8FC-45B4-8484-39CD1CEBCEB2}" srcOrd="0" destOrd="0" presId="urn:microsoft.com/office/officeart/2005/8/layout/hList1"/>
    <dgm:cxn modelId="{B651C94E-DC30-4170-80C4-59CDA4040F3A}" type="presOf" srcId="{3F5A506B-E466-4440-AB7F-45E4AA5D8CF8}" destId="{C40512F3-5B83-46AA-A3B2-847F42D53FBF}" srcOrd="0" destOrd="0" presId="urn:microsoft.com/office/officeart/2005/8/layout/hList1"/>
    <dgm:cxn modelId="{AF6D9E70-F32F-4039-8063-419F7C43AB3E}" type="presOf" srcId="{11D86D7F-3CA8-4ECF-AC6A-DFCF5A699590}" destId="{B2D38174-3859-4359-8EBA-9019BB9F3682}" srcOrd="0" destOrd="2" presId="urn:microsoft.com/office/officeart/2005/8/layout/hList1"/>
    <dgm:cxn modelId="{7DCEF752-A468-4A0F-8598-ED4424967168}" type="presOf" srcId="{20FDC58A-8940-4294-B91E-A67B52EBD085}" destId="{9BDCC98B-EB3A-465D-B9E5-A375C760B1B7}" srcOrd="0" destOrd="0" presId="urn:microsoft.com/office/officeart/2005/8/layout/hList1"/>
    <dgm:cxn modelId="{D31F6D56-04A9-4E74-BD7A-7CB6CD1EB480}" type="presOf" srcId="{798ECEBB-DCA3-49D9-8BBD-14645D238238}" destId="{D936007A-C8FC-45B4-8484-39CD1CEBCEB2}" srcOrd="0" destOrd="1" presId="urn:microsoft.com/office/officeart/2005/8/layout/hList1"/>
    <dgm:cxn modelId="{5BA1FE79-0DDF-41C5-8300-E01957B30226}" type="presOf" srcId="{233A7C00-E967-43FB-954A-3C4368D82F2C}" destId="{041D6D87-00DB-4376-8A46-A6393C69D737}" srcOrd="0" destOrd="0" presId="urn:microsoft.com/office/officeart/2005/8/layout/hList1"/>
    <dgm:cxn modelId="{D1B6D07D-2BF1-46B6-BE94-8DDAA2D4717D}" type="presOf" srcId="{4178489E-95C3-4649-9EA8-2F2B105D4230}" destId="{D936007A-C8FC-45B4-8484-39CD1CEBCEB2}" srcOrd="0" destOrd="3" presId="urn:microsoft.com/office/officeart/2005/8/layout/hList1"/>
    <dgm:cxn modelId="{D16A5A80-8FC0-4DF7-886B-053191D9481E}" srcId="{C4C9135E-3AE8-450C-B210-963A858783F5}" destId="{68F29CBD-839D-48E3-9F1A-2A70E9C3301A}" srcOrd="2" destOrd="0" parTransId="{F78539A1-5873-4C36-B5A0-5A07348E9A65}" sibTransId="{39C1505F-30F6-48F4-ABF7-6DA452E47055}"/>
    <dgm:cxn modelId="{AEF09F87-6A6C-404F-BB62-59CC07EBE966}" type="presOf" srcId="{55FC5C30-107D-4F2D-9ADF-D1DD9E8901A0}" destId="{381A4638-C968-460D-A300-4E5D876A2982}" srcOrd="0" destOrd="0" presId="urn:microsoft.com/office/officeart/2005/8/layout/hList1"/>
    <dgm:cxn modelId="{EF08EE8E-60A0-42E2-BDEC-643C7A91F113}" type="presOf" srcId="{E048183A-0097-48F9-9F39-4BD68F1FA9F1}" destId="{B2D38174-3859-4359-8EBA-9019BB9F3682}" srcOrd="0" destOrd="1" presId="urn:microsoft.com/office/officeart/2005/8/layout/hList1"/>
    <dgm:cxn modelId="{7954C995-5360-4919-A006-C3FE5239F0AB}" type="presOf" srcId="{F0F1DC36-F242-42DF-9EDB-6F8917E09D38}" destId="{B2D38174-3859-4359-8EBA-9019BB9F3682}" srcOrd="0" destOrd="3" presId="urn:microsoft.com/office/officeart/2005/8/layout/hList1"/>
    <dgm:cxn modelId="{82363299-9DB7-4462-A1CD-A2EBA7133460}" srcId="{A89EC8EC-0489-4C78-B85C-1A68D181C0E8}" destId="{92AB7E92-A74E-4B13-9136-B91A1BA7A9AC}" srcOrd="1" destOrd="0" parTransId="{4413DE52-7A36-4BD9-BAD7-63F325822BE2}" sibTransId="{B1317BE8-E7C0-4F0A-89AA-6096C7EBAAEC}"/>
    <dgm:cxn modelId="{9F88DC9D-1C9D-401B-8126-D1541BB42FE8}" srcId="{C4C9135E-3AE8-450C-B210-963A858783F5}" destId="{4178489E-95C3-4649-9EA8-2F2B105D4230}" srcOrd="3" destOrd="0" parTransId="{DC0867EE-9F2A-4341-9285-906CF2B2A378}" sibTransId="{2BA8A67E-C54F-46F2-83EC-48C5782F11F5}"/>
    <dgm:cxn modelId="{D6F9B39F-FD51-467A-91F8-402453997BF2}" type="presOf" srcId="{73768238-552E-4F75-8EE0-8A4C319B26A1}" destId="{9CCCFF6D-BD94-4CAA-9DE3-FF99245C2576}" srcOrd="0" destOrd="0" presId="urn:microsoft.com/office/officeart/2005/8/layout/hList1"/>
    <dgm:cxn modelId="{CE9D27B1-53D4-4795-BA32-B0E6949C311B}" type="presOf" srcId="{92AB7E92-A74E-4B13-9136-B91A1BA7A9AC}" destId="{C40512F3-5B83-46AA-A3B2-847F42D53FBF}" srcOrd="0" destOrd="1" presId="urn:microsoft.com/office/officeart/2005/8/layout/hList1"/>
    <dgm:cxn modelId="{99695FBB-989B-4FCB-BA79-545A2C0C8658}" srcId="{73768238-552E-4F75-8EE0-8A4C319B26A1}" destId="{C4C9135E-3AE8-450C-B210-963A858783F5}" srcOrd="1" destOrd="0" parTransId="{42F83B55-0890-40AE-B2DC-C6F1B145646B}" sibTransId="{B369D4E2-C640-4C2F-A013-69AC2E6755B8}"/>
    <dgm:cxn modelId="{585679C3-FE28-4CCC-9A5F-8F0DDA568492}" srcId="{73768238-552E-4F75-8EE0-8A4C319B26A1}" destId="{A89EC8EC-0489-4C78-B85C-1A68D181C0E8}" srcOrd="0" destOrd="0" parTransId="{D7B8B769-2D8E-483D-89D2-7EEEDC74F956}" sibTransId="{2200F329-EC05-4AC2-9654-F9A79019FF7C}"/>
    <dgm:cxn modelId="{0DA6B5C3-493C-4623-AE0F-C4A7E34468D6}" type="presOf" srcId="{96B6D50F-C5FA-4607-9234-0C92595A3E22}" destId="{9BDCC98B-EB3A-465D-B9E5-A375C760B1B7}" srcOrd="0" destOrd="1" presId="urn:microsoft.com/office/officeart/2005/8/layout/hList1"/>
    <dgm:cxn modelId="{89F3F2D5-CB3B-4249-9C37-B048B296EB51}" srcId="{55FC5C30-107D-4F2D-9ADF-D1DD9E8901A0}" destId="{9ADC9DA0-F26B-47AD-9D3C-2A8A6B9332C8}" srcOrd="2" destOrd="0" parTransId="{AE037505-1C04-4298-AE2E-55D7C7809C1D}" sibTransId="{DBE5392E-4B28-4FEA-B971-EE392D774222}"/>
    <dgm:cxn modelId="{217A5ED6-9E11-4A9E-A8F4-53803DC57710}" srcId="{73768238-552E-4F75-8EE0-8A4C319B26A1}" destId="{55FC5C30-107D-4F2D-9ADF-D1DD9E8901A0}" srcOrd="2" destOrd="0" parTransId="{0A70F2B9-1AA3-49F4-887E-9C0E573DE528}" sibTransId="{F1A8B10A-82A8-4147-9579-E3606F96E777}"/>
    <dgm:cxn modelId="{9BD8E4D7-D64F-4FF4-A1C5-11F8F758C065}" srcId="{C4C9135E-3AE8-450C-B210-963A858783F5}" destId="{798ECEBB-DCA3-49D9-8BBD-14645D238238}" srcOrd="1" destOrd="0" parTransId="{66B49704-4AD7-4A37-B1CD-6DE74BE4F8B0}" sibTransId="{4EFD0A37-1B29-4BF9-BE9A-526CEA769CE9}"/>
    <dgm:cxn modelId="{673AC0DC-6DD6-4FFF-9956-CD4B5C0FA711}" type="presOf" srcId="{87FBA8FC-C174-4893-B829-ED50DC6E7191}" destId="{B2D38174-3859-4359-8EBA-9019BB9F3682}" srcOrd="0" destOrd="0" presId="urn:microsoft.com/office/officeart/2005/8/layout/hList1"/>
    <dgm:cxn modelId="{F9EBCFDF-A78C-487F-A7F3-B9317EFA14CB}" type="presOf" srcId="{9ADC9DA0-F26B-47AD-9D3C-2A8A6B9332C8}" destId="{9BDCC98B-EB3A-465D-B9E5-A375C760B1B7}" srcOrd="0" destOrd="2" presId="urn:microsoft.com/office/officeart/2005/8/layout/hList1"/>
    <dgm:cxn modelId="{298F6CEB-073E-4CF0-A29B-B57868B4F2B8}" srcId="{73768238-552E-4F75-8EE0-8A4C319B26A1}" destId="{233A7C00-E967-43FB-954A-3C4368D82F2C}" srcOrd="3" destOrd="0" parTransId="{31579548-465D-4C61-BA6E-A9A98A1E23FC}" sibTransId="{27DE5295-4540-4E66-8199-8B39B75FDDAB}"/>
    <dgm:cxn modelId="{3475D5EB-1B01-49AB-A9B6-DD8749253A27}" srcId="{233A7C00-E967-43FB-954A-3C4368D82F2C}" destId="{87FBA8FC-C174-4893-B829-ED50DC6E7191}" srcOrd="0" destOrd="0" parTransId="{A5C73015-67A0-403D-ACDB-B4C9B1B2B3BC}" sibTransId="{9921D16D-C7D2-4D9F-8185-A0720A792548}"/>
    <dgm:cxn modelId="{E324EBEE-8AC1-497F-B2E7-7F1FDDBE0D92}" type="presOf" srcId="{C4C9135E-3AE8-450C-B210-963A858783F5}" destId="{71512806-4278-447F-843A-A5ECD9FD3345}" srcOrd="0" destOrd="0" presId="urn:microsoft.com/office/officeart/2005/8/layout/hList1"/>
    <dgm:cxn modelId="{2B15D2F3-0AF5-4986-9810-C5CE26F59301}" srcId="{E048183A-0097-48F9-9F39-4BD68F1FA9F1}" destId="{F0F1DC36-F242-42DF-9EDB-6F8917E09D38}" srcOrd="1" destOrd="0" parTransId="{9E7849F6-3FCA-4309-8DF4-36508FF1FB8F}" sibTransId="{97FDEB3C-8949-43BF-8B0F-3DC2D64D65D6}"/>
    <dgm:cxn modelId="{F66C574E-1636-4A65-9C80-A5F62699B660}" type="presParOf" srcId="{9CCCFF6D-BD94-4CAA-9DE3-FF99245C2576}" destId="{B1C6DD39-CD7F-4C7F-98DE-62442F9A1808}" srcOrd="0" destOrd="0" presId="urn:microsoft.com/office/officeart/2005/8/layout/hList1"/>
    <dgm:cxn modelId="{7BB5115C-1901-4A3D-A57E-BE8D3DDB9B68}" type="presParOf" srcId="{B1C6DD39-CD7F-4C7F-98DE-62442F9A1808}" destId="{E49829DC-19BF-47CE-B824-EA1375CDE3DD}" srcOrd="0" destOrd="0" presId="urn:microsoft.com/office/officeart/2005/8/layout/hList1"/>
    <dgm:cxn modelId="{20C48A52-EE0B-447D-9957-1419178E287F}" type="presParOf" srcId="{B1C6DD39-CD7F-4C7F-98DE-62442F9A1808}" destId="{C40512F3-5B83-46AA-A3B2-847F42D53FBF}" srcOrd="1" destOrd="0" presId="urn:microsoft.com/office/officeart/2005/8/layout/hList1"/>
    <dgm:cxn modelId="{77F002A3-A29F-4FF1-8E23-9410FE5E904D}" type="presParOf" srcId="{9CCCFF6D-BD94-4CAA-9DE3-FF99245C2576}" destId="{14D10B2B-5220-4A78-A896-FD6EA3AE7D91}" srcOrd="1" destOrd="0" presId="urn:microsoft.com/office/officeart/2005/8/layout/hList1"/>
    <dgm:cxn modelId="{E747C933-68A9-45F8-8A37-060F4CD2D4D8}" type="presParOf" srcId="{9CCCFF6D-BD94-4CAA-9DE3-FF99245C2576}" destId="{458A5682-F200-4261-BA51-A0146D86FB04}" srcOrd="2" destOrd="0" presId="urn:microsoft.com/office/officeart/2005/8/layout/hList1"/>
    <dgm:cxn modelId="{71A8E790-E71D-4567-AF24-B84670E3DE40}" type="presParOf" srcId="{458A5682-F200-4261-BA51-A0146D86FB04}" destId="{71512806-4278-447F-843A-A5ECD9FD3345}" srcOrd="0" destOrd="0" presId="urn:microsoft.com/office/officeart/2005/8/layout/hList1"/>
    <dgm:cxn modelId="{99336B9B-4C24-459A-B640-AD75F5A4F31A}" type="presParOf" srcId="{458A5682-F200-4261-BA51-A0146D86FB04}" destId="{D936007A-C8FC-45B4-8484-39CD1CEBCEB2}" srcOrd="1" destOrd="0" presId="urn:microsoft.com/office/officeart/2005/8/layout/hList1"/>
    <dgm:cxn modelId="{9F09B72B-C01D-436E-9B9C-F8606D7B1342}" type="presParOf" srcId="{9CCCFF6D-BD94-4CAA-9DE3-FF99245C2576}" destId="{D3D1BA4B-0B8F-4121-AFBB-7AC70F5017AE}" srcOrd="3" destOrd="0" presId="urn:microsoft.com/office/officeart/2005/8/layout/hList1"/>
    <dgm:cxn modelId="{A9AEA641-B556-4D4F-8A1F-E1001DE0E8C7}" type="presParOf" srcId="{9CCCFF6D-BD94-4CAA-9DE3-FF99245C2576}" destId="{5F46904D-37A1-418B-BB6B-234A57F152FF}" srcOrd="4" destOrd="0" presId="urn:microsoft.com/office/officeart/2005/8/layout/hList1"/>
    <dgm:cxn modelId="{76E5046F-C9E6-4F03-A238-01FEE2C68882}" type="presParOf" srcId="{5F46904D-37A1-418B-BB6B-234A57F152FF}" destId="{381A4638-C968-460D-A300-4E5D876A2982}" srcOrd="0" destOrd="0" presId="urn:microsoft.com/office/officeart/2005/8/layout/hList1"/>
    <dgm:cxn modelId="{CE8D6506-7D4D-4CD5-A4B6-118CEA19AF4E}" type="presParOf" srcId="{5F46904D-37A1-418B-BB6B-234A57F152FF}" destId="{9BDCC98B-EB3A-465D-B9E5-A375C760B1B7}" srcOrd="1" destOrd="0" presId="urn:microsoft.com/office/officeart/2005/8/layout/hList1"/>
    <dgm:cxn modelId="{020217E7-F255-4D0A-A275-97D3349DCA10}" type="presParOf" srcId="{9CCCFF6D-BD94-4CAA-9DE3-FF99245C2576}" destId="{24B6CD6B-BF9B-4501-8097-6A1A19E99C76}" srcOrd="5" destOrd="0" presId="urn:microsoft.com/office/officeart/2005/8/layout/hList1"/>
    <dgm:cxn modelId="{CB83CE88-702C-48EC-B525-61BDEB55BCD1}" type="presParOf" srcId="{9CCCFF6D-BD94-4CAA-9DE3-FF99245C2576}" destId="{2D7604A2-502B-4173-AF53-5E6D6FFDF2EB}" srcOrd="6" destOrd="0" presId="urn:microsoft.com/office/officeart/2005/8/layout/hList1"/>
    <dgm:cxn modelId="{CF88E610-95B9-4C32-8DE9-8AAEDA1FD415}" type="presParOf" srcId="{2D7604A2-502B-4173-AF53-5E6D6FFDF2EB}" destId="{041D6D87-00DB-4376-8A46-A6393C69D737}" srcOrd="0" destOrd="0" presId="urn:microsoft.com/office/officeart/2005/8/layout/hList1"/>
    <dgm:cxn modelId="{DDD29A7F-E81E-49D0-895B-E35506ADD109}" type="presParOf" srcId="{2D7604A2-502B-4173-AF53-5E6D6FFDF2EB}" destId="{B2D38174-3859-4359-8EBA-9019BB9F3682}"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038905B-AAAB-4A0E-92EA-64791CB16E0A}" type="doc">
      <dgm:prSet loTypeId="urn:microsoft.com/office/officeart/2008/layout/LinedList" loCatId="list" qsTypeId="urn:microsoft.com/office/officeart/2005/8/quickstyle/simple5" qsCatId="simple" csTypeId="urn:microsoft.com/office/officeart/2005/8/colors/accent3_2" csCatId="accent3"/>
      <dgm:spPr/>
      <dgm:t>
        <a:bodyPr/>
        <a:lstStyle/>
        <a:p>
          <a:endParaRPr lang="en-US"/>
        </a:p>
      </dgm:t>
    </dgm:pt>
    <dgm:pt modelId="{70DE7FF6-FFF1-4725-9A4C-71C4890C361B}">
      <dgm:prSet/>
      <dgm:spPr/>
      <dgm:t>
        <a:bodyPr/>
        <a:lstStyle/>
        <a:p>
          <a:r>
            <a:rPr lang="en-US"/>
            <a:t>Classical (TF‑IDF/LinearSVC/LogReg): lowercase, strip punctuation; replace URLs/@; drop #.</a:t>
          </a:r>
        </a:p>
      </dgm:t>
    </dgm:pt>
    <dgm:pt modelId="{B6F91DE9-8068-4126-88F2-3E463042A62B}" type="parTrans" cxnId="{7BBDAD93-6A28-4780-81E2-4532136599E6}">
      <dgm:prSet/>
      <dgm:spPr/>
      <dgm:t>
        <a:bodyPr/>
        <a:lstStyle/>
        <a:p>
          <a:endParaRPr lang="en-US"/>
        </a:p>
      </dgm:t>
    </dgm:pt>
    <dgm:pt modelId="{F8BBE12E-6E6C-4D84-8A5E-F937A92E2D7C}" type="sibTrans" cxnId="{7BBDAD93-6A28-4780-81E2-4532136599E6}">
      <dgm:prSet/>
      <dgm:spPr/>
      <dgm:t>
        <a:bodyPr/>
        <a:lstStyle/>
        <a:p>
          <a:endParaRPr lang="en-US"/>
        </a:p>
      </dgm:t>
    </dgm:pt>
    <dgm:pt modelId="{233AECBE-7304-48DA-8CB5-A767DA6262F8}">
      <dgm:prSet/>
      <dgm:spPr/>
      <dgm:t>
        <a:bodyPr/>
        <a:lstStyle/>
        <a:p>
          <a:r>
            <a:rPr lang="en-US"/>
            <a:t>Neural baselines (RNN/BiLSTM): Keras Tokenizer + padding (e.g., max_len=50).</a:t>
          </a:r>
        </a:p>
      </dgm:t>
    </dgm:pt>
    <dgm:pt modelId="{C63129AB-01FD-43DC-90DA-4C406AE24E91}" type="parTrans" cxnId="{708D62D2-4739-4B3C-9655-05B3C96A0C18}">
      <dgm:prSet/>
      <dgm:spPr/>
      <dgm:t>
        <a:bodyPr/>
        <a:lstStyle/>
        <a:p>
          <a:endParaRPr lang="en-US"/>
        </a:p>
      </dgm:t>
    </dgm:pt>
    <dgm:pt modelId="{B106B194-0B28-4DD3-B4E4-AD160163AE71}" type="sibTrans" cxnId="{708D62D2-4739-4B3C-9655-05B3C96A0C18}">
      <dgm:prSet/>
      <dgm:spPr/>
      <dgm:t>
        <a:bodyPr/>
        <a:lstStyle/>
        <a:p>
          <a:endParaRPr lang="en-US"/>
        </a:p>
      </dgm:t>
    </dgm:pt>
    <dgm:pt modelId="{ECA1E945-7590-4B4E-BD03-63B85C2936E9}">
      <dgm:prSet/>
      <dgm:spPr/>
      <dgm:t>
        <a:bodyPr/>
        <a:lstStyle/>
        <a:p>
          <a:r>
            <a:rPr lang="en-US"/>
            <a:t>DistilBERT: minimal normalization; tokenizer handles casing/subwords.</a:t>
          </a:r>
        </a:p>
      </dgm:t>
    </dgm:pt>
    <dgm:pt modelId="{72F989DD-D5B0-4798-8A8C-7DCE1E390D75}" type="parTrans" cxnId="{BF905E57-AF73-4E29-9FA5-691E184438DD}">
      <dgm:prSet/>
      <dgm:spPr/>
      <dgm:t>
        <a:bodyPr/>
        <a:lstStyle/>
        <a:p>
          <a:endParaRPr lang="en-US"/>
        </a:p>
      </dgm:t>
    </dgm:pt>
    <dgm:pt modelId="{5878E067-F31B-4B4C-9604-21B2C044C381}" type="sibTrans" cxnId="{BF905E57-AF73-4E29-9FA5-691E184438DD}">
      <dgm:prSet/>
      <dgm:spPr/>
      <dgm:t>
        <a:bodyPr/>
        <a:lstStyle/>
        <a:p>
          <a:endParaRPr lang="en-US"/>
        </a:p>
      </dgm:t>
    </dgm:pt>
    <dgm:pt modelId="{09FD45EE-6E19-4A36-B84B-FEA5E4717305}">
      <dgm:prSet/>
      <dgm:spPr/>
      <dgm:t>
        <a:bodyPr/>
        <a:lstStyle/>
        <a:p>
          <a:r>
            <a:rPr lang="en-US"/>
            <a:t>BERTweet: light clean (keep emojis/hashtags) + optional KEYWORD/LOCATION prompt.</a:t>
          </a:r>
        </a:p>
      </dgm:t>
    </dgm:pt>
    <dgm:pt modelId="{75FF748C-5B9B-49AA-9056-E10ED4ED7215}" type="parTrans" cxnId="{7EE7BBFC-2208-412B-B648-35B863792AA6}">
      <dgm:prSet/>
      <dgm:spPr/>
      <dgm:t>
        <a:bodyPr/>
        <a:lstStyle/>
        <a:p>
          <a:endParaRPr lang="en-US"/>
        </a:p>
      </dgm:t>
    </dgm:pt>
    <dgm:pt modelId="{9DA0B035-32C1-4D2C-8E75-41E91957FC56}" type="sibTrans" cxnId="{7EE7BBFC-2208-412B-B648-35B863792AA6}">
      <dgm:prSet/>
      <dgm:spPr/>
      <dgm:t>
        <a:bodyPr/>
        <a:lstStyle/>
        <a:p>
          <a:endParaRPr lang="en-US"/>
        </a:p>
      </dgm:t>
    </dgm:pt>
    <dgm:pt modelId="{C4C36EF0-F4F2-45E2-92E7-1A01C7ACA5E7}" type="pres">
      <dgm:prSet presAssocID="{A038905B-AAAB-4A0E-92EA-64791CB16E0A}" presName="vert0" presStyleCnt="0">
        <dgm:presLayoutVars>
          <dgm:dir/>
          <dgm:animOne val="branch"/>
          <dgm:animLvl val="lvl"/>
        </dgm:presLayoutVars>
      </dgm:prSet>
      <dgm:spPr/>
    </dgm:pt>
    <dgm:pt modelId="{BDD18D18-8D18-4E22-8C01-D323874331FB}" type="pres">
      <dgm:prSet presAssocID="{70DE7FF6-FFF1-4725-9A4C-71C4890C361B}" presName="thickLine" presStyleLbl="alignNode1" presStyleIdx="0" presStyleCnt="4"/>
      <dgm:spPr/>
    </dgm:pt>
    <dgm:pt modelId="{599DC4DC-4EB2-47EC-BAD4-9233AD24B111}" type="pres">
      <dgm:prSet presAssocID="{70DE7FF6-FFF1-4725-9A4C-71C4890C361B}" presName="horz1" presStyleCnt="0"/>
      <dgm:spPr/>
    </dgm:pt>
    <dgm:pt modelId="{BCDC1BE4-EA32-4B81-9B82-4744EEC01A75}" type="pres">
      <dgm:prSet presAssocID="{70DE7FF6-FFF1-4725-9A4C-71C4890C361B}" presName="tx1" presStyleLbl="revTx" presStyleIdx="0" presStyleCnt="4"/>
      <dgm:spPr/>
    </dgm:pt>
    <dgm:pt modelId="{E73C6AA8-79B6-40BF-9D3D-1F32FEEF2383}" type="pres">
      <dgm:prSet presAssocID="{70DE7FF6-FFF1-4725-9A4C-71C4890C361B}" presName="vert1" presStyleCnt="0"/>
      <dgm:spPr/>
    </dgm:pt>
    <dgm:pt modelId="{0B68EBE7-0846-45D7-83B6-AA6149DD2FA0}" type="pres">
      <dgm:prSet presAssocID="{233AECBE-7304-48DA-8CB5-A767DA6262F8}" presName="thickLine" presStyleLbl="alignNode1" presStyleIdx="1" presStyleCnt="4"/>
      <dgm:spPr/>
    </dgm:pt>
    <dgm:pt modelId="{3863A1A9-F048-41EE-AC3D-0EB564173A7B}" type="pres">
      <dgm:prSet presAssocID="{233AECBE-7304-48DA-8CB5-A767DA6262F8}" presName="horz1" presStyleCnt="0"/>
      <dgm:spPr/>
    </dgm:pt>
    <dgm:pt modelId="{A7B351EE-B97F-4F56-BC9D-7FB40CBA0DD0}" type="pres">
      <dgm:prSet presAssocID="{233AECBE-7304-48DA-8CB5-A767DA6262F8}" presName="tx1" presStyleLbl="revTx" presStyleIdx="1" presStyleCnt="4"/>
      <dgm:spPr/>
    </dgm:pt>
    <dgm:pt modelId="{3B6E45EF-5A0C-42E4-8620-F27431A24C29}" type="pres">
      <dgm:prSet presAssocID="{233AECBE-7304-48DA-8CB5-A767DA6262F8}" presName="vert1" presStyleCnt="0"/>
      <dgm:spPr/>
    </dgm:pt>
    <dgm:pt modelId="{3C089C2B-5E18-4FA8-B00F-7155B4C18B5D}" type="pres">
      <dgm:prSet presAssocID="{ECA1E945-7590-4B4E-BD03-63B85C2936E9}" presName="thickLine" presStyleLbl="alignNode1" presStyleIdx="2" presStyleCnt="4"/>
      <dgm:spPr/>
    </dgm:pt>
    <dgm:pt modelId="{79D29F8B-033E-4928-9120-5019B25BA4E0}" type="pres">
      <dgm:prSet presAssocID="{ECA1E945-7590-4B4E-BD03-63B85C2936E9}" presName="horz1" presStyleCnt="0"/>
      <dgm:spPr/>
    </dgm:pt>
    <dgm:pt modelId="{D3BC32BB-BCF4-4174-A18F-60E00339DBB5}" type="pres">
      <dgm:prSet presAssocID="{ECA1E945-7590-4B4E-BD03-63B85C2936E9}" presName="tx1" presStyleLbl="revTx" presStyleIdx="2" presStyleCnt="4"/>
      <dgm:spPr/>
    </dgm:pt>
    <dgm:pt modelId="{A496115B-786E-4538-B829-97C6BC9A19CC}" type="pres">
      <dgm:prSet presAssocID="{ECA1E945-7590-4B4E-BD03-63B85C2936E9}" presName="vert1" presStyleCnt="0"/>
      <dgm:spPr/>
    </dgm:pt>
    <dgm:pt modelId="{B86972B6-6C39-475E-BD56-ECFA16ADCE1F}" type="pres">
      <dgm:prSet presAssocID="{09FD45EE-6E19-4A36-B84B-FEA5E4717305}" presName="thickLine" presStyleLbl="alignNode1" presStyleIdx="3" presStyleCnt="4"/>
      <dgm:spPr/>
    </dgm:pt>
    <dgm:pt modelId="{522D49C9-3DE5-42C7-B735-FC6352EA2AD4}" type="pres">
      <dgm:prSet presAssocID="{09FD45EE-6E19-4A36-B84B-FEA5E4717305}" presName="horz1" presStyleCnt="0"/>
      <dgm:spPr/>
    </dgm:pt>
    <dgm:pt modelId="{F1B32A3A-A251-4A76-8291-F01E995FCE5C}" type="pres">
      <dgm:prSet presAssocID="{09FD45EE-6E19-4A36-B84B-FEA5E4717305}" presName="tx1" presStyleLbl="revTx" presStyleIdx="3" presStyleCnt="4"/>
      <dgm:spPr/>
    </dgm:pt>
    <dgm:pt modelId="{5F1C4876-8FC5-4A8E-A928-546BAD1370B8}" type="pres">
      <dgm:prSet presAssocID="{09FD45EE-6E19-4A36-B84B-FEA5E4717305}" presName="vert1" presStyleCnt="0"/>
      <dgm:spPr/>
    </dgm:pt>
  </dgm:ptLst>
  <dgm:cxnLst>
    <dgm:cxn modelId="{E898BD65-46D4-4A3A-885A-6797318C7FAA}" type="presOf" srcId="{ECA1E945-7590-4B4E-BD03-63B85C2936E9}" destId="{D3BC32BB-BCF4-4174-A18F-60E00339DBB5}" srcOrd="0" destOrd="0" presId="urn:microsoft.com/office/officeart/2008/layout/LinedList"/>
    <dgm:cxn modelId="{2440CA6A-1B11-49BD-AF3F-0DB9A1173DA5}" type="presOf" srcId="{A038905B-AAAB-4A0E-92EA-64791CB16E0A}" destId="{C4C36EF0-F4F2-45E2-92E7-1A01C7ACA5E7}" srcOrd="0" destOrd="0" presId="urn:microsoft.com/office/officeart/2008/layout/LinedList"/>
    <dgm:cxn modelId="{0250B64D-A200-4B41-8117-1F3B4681A8AF}" type="presOf" srcId="{09FD45EE-6E19-4A36-B84B-FEA5E4717305}" destId="{F1B32A3A-A251-4A76-8291-F01E995FCE5C}" srcOrd="0" destOrd="0" presId="urn:microsoft.com/office/officeart/2008/layout/LinedList"/>
    <dgm:cxn modelId="{BF905E57-AF73-4E29-9FA5-691E184438DD}" srcId="{A038905B-AAAB-4A0E-92EA-64791CB16E0A}" destId="{ECA1E945-7590-4B4E-BD03-63B85C2936E9}" srcOrd="2" destOrd="0" parTransId="{72F989DD-D5B0-4798-8A8C-7DCE1E390D75}" sibTransId="{5878E067-F31B-4B4C-9604-21B2C044C381}"/>
    <dgm:cxn modelId="{7BBDAD93-6A28-4780-81E2-4532136599E6}" srcId="{A038905B-AAAB-4A0E-92EA-64791CB16E0A}" destId="{70DE7FF6-FFF1-4725-9A4C-71C4890C361B}" srcOrd="0" destOrd="0" parTransId="{B6F91DE9-8068-4126-88F2-3E463042A62B}" sibTransId="{F8BBE12E-6E6C-4D84-8A5E-F937A92E2D7C}"/>
    <dgm:cxn modelId="{708D62D2-4739-4B3C-9655-05B3C96A0C18}" srcId="{A038905B-AAAB-4A0E-92EA-64791CB16E0A}" destId="{233AECBE-7304-48DA-8CB5-A767DA6262F8}" srcOrd="1" destOrd="0" parTransId="{C63129AB-01FD-43DC-90DA-4C406AE24E91}" sibTransId="{B106B194-0B28-4DD3-B4E4-AD160163AE71}"/>
    <dgm:cxn modelId="{512C04D7-25BC-4687-B934-593732F8CE45}" type="presOf" srcId="{70DE7FF6-FFF1-4725-9A4C-71C4890C361B}" destId="{BCDC1BE4-EA32-4B81-9B82-4744EEC01A75}" srcOrd="0" destOrd="0" presId="urn:microsoft.com/office/officeart/2008/layout/LinedList"/>
    <dgm:cxn modelId="{CE9E2ADC-B120-48F6-AFA0-287921CFB81F}" type="presOf" srcId="{233AECBE-7304-48DA-8CB5-A767DA6262F8}" destId="{A7B351EE-B97F-4F56-BC9D-7FB40CBA0DD0}" srcOrd="0" destOrd="0" presId="urn:microsoft.com/office/officeart/2008/layout/LinedList"/>
    <dgm:cxn modelId="{7EE7BBFC-2208-412B-B648-35B863792AA6}" srcId="{A038905B-AAAB-4A0E-92EA-64791CB16E0A}" destId="{09FD45EE-6E19-4A36-B84B-FEA5E4717305}" srcOrd="3" destOrd="0" parTransId="{75FF748C-5B9B-49AA-9056-E10ED4ED7215}" sibTransId="{9DA0B035-32C1-4D2C-8E75-41E91957FC56}"/>
    <dgm:cxn modelId="{E492E389-258A-4C25-8C88-0C21CE561813}" type="presParOf" srcId="{C4C36EF0-F4F2-45E2-92E7-1A01C7ACA5E7}" destId="{BDD18D18-8D18-4E22-8C01-D323874331FB}" srcOrd="0" destOrd="0" presId="urn:microsoft.com/office/officeart/2008/layout/LinedList"/>
    <dgm:cxn modelId="{F9DD2ACA-F632-4699-AA84-43A262C717BF}" type="presParOf" srcId="{C4C36EF0-F4F2-45E2-92E7-1A01C7ACA5E7}" destId="{599DC4DC-4EB2-47EC-BAD4-9233AD24B111}" srcOrd="1" destOrd="0" presId="urn:microsoft.com/office/officeart/2008/layout/LinedList"/>
    <dgm:cxn modelId="{BABFC2F1-821D-4868-BCF3-CCBBEC9446BD}" type="presParOf" srcId="{599DC4DC-4EB2-47EC-BAD4-9233AD24B111}" destId="{BCDC1BE4-EA32-4B81-9B82-4744EEC01A75}" srcOrd="0" destOrd="0" presId="urn:microsoft.com/office/officeart/2008/layout/LinedList"/>
    <dgm:cxn modelId="{6CCCE950-1897-4A71-AEBA-07E969BEF192}" type="presParOf" srcId="{599DC4DC-4EB2-47EC-BAD4-9233AD24B111}" destId="{E73C6AA8-79B6-40BF-9D3D-1F32FEEF2383}" srcOrd="1" destOrd="0" presId="urn:microsoft.com/office/officeart/2008/layout/LinedList"/>
    <dgm:cxn modelId="{1821AA1C-6172-42B1-BC43-1DB467A09574}" type="presParOf" srcId="{C4C36EF0-F4F2-45E2-92E7-1A01C7ACA5E7}" destId="{0B68EBE7-0846-45D7-83B6-AA6149DD2FA0}" srcOrd="2" destOrd="0" presId="urn:microsoft.com/office/officeart/2008/layout/LinedList"/>
    <dgm:cxn modelId="{20685628-51BE-4D59-95DA-E39DED7989DB}" type="presParOf" srcId="{C4C36EF0-F4F2-45E2-92E7-1A01C7ACA5E7}" destId="{3863A1A9-F048-41EE-AC3D-0EB564173A7B}" srcOrd="3" destOrd="0" presId="urn:microsoft.com/office/officeart/2008/layout/LinedList"/>
    <dgm:cxn modelId="{DA6F50CB-8719-4DB5-AD04-9769FF53D768}" type="presParOf" srcId="{3863A1A9-F048-41EE-AC3D-0EB564173A7B}" destId="{A7B351EE-B97F-4F56-BC9D-7FB40CBA0DD0}" srcOrd="0" destOrd="0" presId="urn:microsoft.com/office/officeart/2008/layout/LinedList"/>
    <dgm:cxn modelId="{A1495A32-48CF-4E6F-8FFF-ECC4F553435C}" type="presParOf" srcId="{3863A1A9-F048-41EE-AC3D-0EB564173A7B}" destId="{3B6E45EF-5A0C-42E4-8620-F27431A24C29}" srcOrd="1" destOrd="0" presId="urn:microsoft.com/office/officeart/2008/layout/LinedList"/>
    <dgm:cxn modelId="{EC47EA6C-DA6B-460C-8ADF-30128ADF2235}" type="presParOf" srcId="{C4C36EF0-F4F2-45E2-92E7-1A01C7ACA5E7}" destId="{3C089C2B-5E18-4FA8-B00F-7155B4C18B5D}" srcOrd="4" destOrd="0" presId="urn:microsoft.com/office/officeart/2008/layout/LinedList"/>
    <dgm:cxn modelId="{C2669423-867E-4030-B99D-2CD7228FF973}" type="presParOf" srcId="{C4C36EF0-F4F2-45E2-92E7-1A01C7ACA5E7}" destId="{79D29F8B-033E-4928-9120-5019B25BA4E0}" srcOrd="5" destOrd="0" presId="urn:microsoft.com/office/officeart/2008/layout/LinedList"/>
    <dgm:cxn modelId="{CB988BB8-6EED-449C-B029-DC78B7E7B134}" type="presParOf" srcId="{79D29F8B-033E-4928-9120-5019B25BA4E0}" destId="{D3BC32BB-BCF4-4174-A18F-60E00339DBB5}" srcOrd="0" destOrd="0" presId="urn:microsoft.com/office/officeart/2008/layout/LinedList"/>
    <dgm:cxn modelId="{7D19F374-2B97-4D23-9959-C7E2459176D1}" type="presParOf" srcId="{79D29F8B-033E-4928-9120-5019B25BA4E0}" destId="{A496115B-786E-4538-B829-97C6BC9A19CC}" srcOrd="1" destOrd="0" presId="urn:microsoft.com/office/officeart/2008/layout/LinedList"/>
    <dgm:cxn modelId="{8FC7C23E-7ED0-40DF-9878-C36E8B64DC3C}" type="presParOf" srcId="{C4C36EF0-F4F2-45E2-92E7-1A01C7ACA5E7}" destId="{B86972B6-6C39-475E-BD56-ECFA16ADCE1F}" srcOrd="6" destOrd="0" presId="urn:microsoft.com/office/officeart/2008/layout/LinedList"/>
    <dgm:cxn modelId="{DA5EE456-8717-4361-ABA6-4332E5F9B492}" type="presParOf" srcId="{C4C36EF0-F4F2-45E2-92E7-1A01C7ACA5E7}" destId="{522D49C9-3DE5-42C7-B735-FC6352EA2AD4}" srcOrd="7" destOrd="0" presId="urn:microsoft.com/office/officeart/2008/layout/LinedList"/>
    <dgm:cxn modelId="{634FE454-9A8A-4477-9F00-5B7AC3498F22}" type="presParOf" srcId="{522D49C9-3DE5-42C7-B735-FC6352EA2AD4}" destId="{F1B32A3A-A251-4A76-8291-F01E995FCE5C}" srcOrd="0" destOrd="0" presId="urn:microsoft.com/office/officeart/2008/layout/LinedList"/>
    <dgm:cxn modelId="{C14E84D6-FFA6-4F17-A1F8-660DF43E3A7A}" type="presParOf" srcId="{522D49C9-3DE5-42C7-B735-FC6352EA2AD4}" destId="{5F1C4876-8FC5-4A8E-A928-546BAD1370B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20B812-D4D4-4423-8BB1-E9A9AA399574}">
      <dsp:nvSpPr>
        <dsp:cNvPr id="0" name=""/>
        <dsp:cNvSpPr/>
      </dsp:nvSpPr>
      <dsp:spPr>
        <a:xfrm>
          <a:off x="0" y="599528"/>
          <a:ext cx="8195871" cy="110682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F7AADB-3009-4BCE-A3AF-95FA634E5850}">
      <dsp:nvSpPr>
        <dsp:cNvPr id="0" name=""/>
        <dsp:cNvSpPr/>
      </dsp:nvSpPr>
      <dsp:spPr>
        <a:xfrm>
          <a:off x="334813" y="848563"/>
          <a:ext cx="608751" cy="6087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66BF33-98A3-4BCA-A72F-53A2D2D0CB20}">
      <dsp:nvSpPr>
        <dsp:cNvPr id="0" name=""/>
        <dsp:cNvSpPr/>
      </dsp:nvSpPr>
      <dsp:spPr>
        <a:xfrm>
          <a:off x="1278378" y="599528"/>
          <a:ext cx="6917492" cy="11068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139" tIns="117139" rIns="117139" bIns="117139" numCol="1" spcCol="1270" anchor="ctr" anchorCtr="0">
          <a:noAutofit/>
        </a:bodyPr>
        <a:lstStyle/>
        <a:p>
          <a:pPr marL="0" lvl="0" indent="0" algn="l" defTabSz="800100">
            <a:lnSpc>
              <a:spcPct val="100000"/>
            </a:lnSpc>
            <a:spcBef>
              <a:spcPct val="0"/>
            </a:spcBef>
            <a:spcAft>
              <a:spcPct val="35000"/>
            </a:spcAft>
            <a:buNone/>
          </a:pPr>
          <a:r>
            <a:rPr lang="en-US" sz="1800" kern="1200"/>
            <a:t>Task: classify tweets as disaster-related (1) vs. non-disaster (0).</a:t>
          </a:r>
        </a:p>
      </dsp:txBody>
      <dsp:txXfrm>
        <a:off x="1278378" y="599528"/>
        <a:ext cx="6917492" cy="1106821"/>
      </dsp:txXfrm>
    </dsp:sp>
    <dsp:sp modelId="{369A00C0-0C33-469A-B75A-22BCEA0D7641}">
      <dsp:nvSpPr>
        <dsp:cNvPr id="0" name=""/>
        <dsp:cNvSpPr/>
      </dsp:nvSpPr>
      <dsp:spPr>
        <a:xfrm>
          <a:off x="0" y="1983055"/>
          <a:ext cx="8195871" cy="110682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A0D62F-EEAD-459E-B976-B56CBB9A7B71}">
      <dsp:nvSpPr>
        <dsp:cNvPr id="0" name=""/>
        <dsp:cNvSpPr/>
      </dsp:nvSpPr>
      <dsp:spPr>
        <a:xfrm>
          <a:off x="334813" y="2232090"/>
          <a:ext cx="608751" cy="6087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489E0F-AA8E-4DC5-8D00-6EB01978F7CA}">
      <dsp:nvSpPr>
        <dsp:cNvPr id="0" name=""/>
        <dsp:cNvSpPr/>
      </dsp:nvSpPr>
      <dsp:spPr>
        <a:xfrm>
          <a:off x="1278378" y="1983055"/>
          <a:ext cx="6917492" cy="11068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139" tIns="117139" rIns="117139" bIns="117139" numCol="1" spcCol="1270" anchor="ctr" anchorCtr="0">
          <a:noAutofit/>
        </a:bodyPr>
        <a:lstStyle/>
        <a:p>
          <a:pPr marL="0" lvl="0" indent="0" algn="l" defTabSz="800100">
            <a:lnSpc>
              <a:spcPct val="100000"/>
            </a:lnSpc>
            <a:spcBef>
              <a:spcPct val="0"/>
            </a:spcBef>
            <a:spcAft>
              <a:spcPct val="35000"/>
            </a:spcAft>
            <a:buNone/>
          </a:pPr>
          <a:r>
            <a:rPr lang="en-US" sz="1800" kern="1200"/>
            <a:t>We chose the </a:t>
          </a:r>
          <a:r>
            <a:rPr lang="en-US" sz="1800" i="1" kern="1200"/>
            <a:t>Disaster Tweets</a:t>
          </a:r>
          <a:r>
            <a:rPr lang="en-US" sz="1800" kern="1200"/>
            <a:t> competition because it provides real, noisy, short posts with ground-truth labels, letting us benchmark classic ML vs. transformers on a realistic moderation/triage task</a:t>
          </a:r>
          <a:endParaRPr lang="en-US" sz="1800" kern="1200">
            <a:latin typeface="Calibri"/>
          </a:endParaRPr>
        </a:p>
      </dsp:txBody>
      <dsp:txXfrm>
        <a:off x="1278378" y="1983055"/>
        <a:ext cx="6917492" cy="11068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7648F8-C2DF-4930-8703-1E57D91DC530}">
      <dsp:nvSpPr>
        <dsp:cNvPr id="0" name=""/>
        <dsp:cNvSpPr/>
      </dsp:nvSpPr>
      <dsp:spPr>
        <a:xfrm>
          <a:off x="0" y="95441"/>
          <a:ext cx="5175384" cy="128663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Columns: id, keyword, location, text, target.</a:t>
          </a:r>
        </a:p>
      </dsp:txBody>
      <dsp:txXfrm>
        <a:off x="62808" y="158249"/>
        <a:ext cx="5049768" cy="1161018"/>
      </dsp:txXfrm>
    </dsp:sp>
    <dsp:sp modelId="{81425775-CAC7-4C40-89FF-35A631059448}">
      <dsp:nvSpPr>
        <dsp:cNvPr id="0" name=""/>
        <dsp:cNvSpPr/>
      </dsp:nvSpPr>
      <dsp:spPr>
        <a:xfrm>
          <a:off x="0" y="1448316"/>
          <a:ext cx="5175384" cy="1286634"/>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Class balance ≈ 47%/53% (may vary slightly after cleaning).</a:t>
          </a:r>
        </a:p>
      </dsp:txBody>
      <dsp:txXfrm>
        <a:off x="62808" y="1511124"/>
        <a:ext cx="5049768" cy="1161018"/>
      </dsp:txXfrm>
    </dsp:sp>
    <dsp:sp modelId="{5A02C8B7-7A64-48B0-8BB1-ABA0FA01A221}">
      <dsp:nvSpPr>
        <dsp:cNvPr id="0" name=""/>
        <dsp:cNvSpPr/>
      </dsp:nvSpPr>
      <dsp:spPr>
        <a:xfrm>
          <a:off x="0" y="2801190"/>
          <a:ext cx="5175384" cy="1286634"/>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Noisy short text: hashtags, URLs, mentions, emojis.</a:t>
          </a:r>
        </a:p>
      </dsp:txBody>
      <dsp:txXfrm>
        <a:off x="62808" y="2863998"/>
        <a:ext cx="5049768" cy="1161018"/>
      </dsp:txXfrm>
    </dsp:sp>
    <dsp:sp modelId="{D86B22F1-EEF8-448B-8441-C4C74803C071}">
      <dsp:nvSpPr>
        <dsp:cNvPr id="0" name=""/>
        <dsp:cNvSpPr/>
      </dsp:nvSpPr>
      <dsp:spPr>
        <a:xfrm>
          <a:off x="0" y="4154064"/>
          <a:ext cx="5175384" cy="1286634"/>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Checked duplicates/outliers; top keywords/locations; tweet-length patterns.</a:t>
          </a:r>
        </a:p>
      </dsp:txBody>
      <dsp:txXfrm>
        <a:off x="62808" y="4216872"/>
        <a:ext cx="5049768" cy="11610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A850A4-C481-46BC-B180-1877FC9438B5}">
      <dsp:nvSpPr>
        <dsp:cNvPr id="0" name=""/>
        <dsp:cNvSpPr/>
      </dsp:nvSpPr>
      <dsp:spPr>
        <a:xfrm>
          <a:off x="0" y="1878"/>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0647C2-B63B-4597-8594-6CE67A162B4A}">
      <dsp:nvSpPr>
        <dsp:cNvPr id="0" name=""/>
        <dsp:cNvSpPr/>
      </dsp:nvSpPr>
      <dsp:spPr>
        <a:xfrm>
          <a:off x="287993" y="216088"/>
          <a:ext cx="523623" cy="5236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2B64AD2-7B48-4EA5-BA66-45B37958714A}">
      <dsp:nvSpPr>
        <dsp:cNvPr id="0" name=""/>
        <dsp:cNvSpPr/>
      </dsp:nvSpPr>
      <dsp:spPr>
        <a:xfrm>
          <a:off x="1099610" y="1878"/>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100000"/>
            </a:lnSpc>
            <a:spcBef>
              <a:spcPct val="0"/>
            </a:spcBef>
            <a:spcAft>
              <a:spcPct val="35000"/>
            </a:spcAft>
            <a:buNone/>
          </a:pPr>
          <a:r>
            <a:rPr lang="en-US" sz="2200" kern="1200"/>
            <a:t>Baselines: TF‑IDF + Logistic Regression; LinearSVC (word 1–2g, char_wb 3–5g).</a:t>
          </a:r>
        </a:p>
      </dsp:txBody>
      <dsp:txXfrm>
        <a:off x="1099610" y="1878"/>
        <a:ext cx="7129989" cy="952043"/>
      </dsp:txXfrm>
    </dsp:sp>
    <dsp:sp modelId="{24C615FE-743A-4F4A-B469-BB88FE6DAAAD}">
      <dsp:nvSpPr>
        <dsp:cNvPr id="0" name=""/>
        <dsp:cNvSpPr/>
      </dsp:nvSpPr>
      <dsp:spPr>
        <a:xfrm>
          <a:off x="0" y="1191932"/>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848868-CB89-40D8-8BA7-3C4113F9BFEC}">
      <dsp:nvSpPr>
        <dsp:cNvPr id="0" name=""/>
        <dsp:cNvSpPr/>
      </dsp:nvSpPr>
      <dsp:spPr>
        <a:xfrm>
          <a:off x="287993" y="1406142"/>
          <a:ext cx="523623" cy="5236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9556D4-7159-433E-AFB7-5FACE614E19C}">
      <dsp:nvSpPr>
        <dsp:cNvPr id="0" name=""/>
        <dsp:cNvSpPr/>
      </dsp:nvSpPr>
      <dsp:spPr>
        <a:xfrm>
          <a:off x="1099610" y="1191932"/>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100000"/>
            </a:lnSpc>
            <a:spcBef>
              <a:spcPct val="0"/>
            </a:spcBef>
            <a:spcAft>
              <a:spcPct val="35000"/>
            </a:spcAft>
            <a:buNone/>
          </a:pPr>
          <a:r>
            <a:rPr lang="en-US" sz="2200" kern="1200"/>
            <a:t>RNN: SimpleRNN classifier (Embedding → RNN → Dense).</a:t>
          </a:r>
        </a:p>
      </dsp:txBody>
      <dsp:txXfrm>
        <a:off x="1099610" y="1191932"/>
        <a:ext cx="7129989" cy="952043"/>
      </dsp:txXfrm>
    </dsp:sp>
    <dsp:sp modelId="{73835664-65DF-4424-AF65-6CB8C24F6B01}">
      <dsp:nvSpPr>
        <dsp:cNvPr id="0" name=""/>
        <dsp:cNvSpPr/>
      </dsp:nvSpPr>
      <dsp:spPr>
        <a:xfrm>
          <a:off x="0" y="2381986"/>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72DAF3-13C8-4A61-9636-1F8C38404DB2}">
      <dsp:nvSpPr>
        <dsp:cNvPr id="0" name=""/>
        <dsp:cNvSpPr/>
      </dsp:nvSpPr>
      <dsp:spPr>
        <a:xfrm>
          <a:off x="287993" y="2596196"/>
          <a:ext cx="523623" cy="5236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5F1044-87B0-4CAA-8E0D-808168FB32F9}">
      <dsp:nvSpPr>
        <dsp:cNvPr id="0" name=""/>
        <dsp:cNvSpPr/>
      </dsp:nvSpPr>
      <dsp:spPr>
        <a:xfrm>
          <a:off x="1099610" y="2381986"/>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100000"/>
            </a:lnSpc>
            <a:spcBef>
              <a:spcPct val="0"/>
            </a:spcBef>
            <a:spcAft>
              <a:spcPct val="35000"/>
            </a:spcAft>
            <a:buNone/>
          </a:pPr>
          <a:r>
            <a:rPr lang="en-US" sz="2200" kern="1200"/>
            <a:t>RNN+: BiLSTM + mean–max pooling (stable baseline).</a:t>
          </a:r>
        </a:p>
      </dsp:txBody>
      <dsp:txXfrm>
        <a:off x="1099610" y="2381986"/>
        <a:ext cx="7129989" cy="952043"/>
      </dsp:txXfrm>
    </dsp:sp>
    <dsp:sp modelId="{DF2A333A-D671-47CD-8A30-52C0B7D01678}">
      <dsp:nvSpPr>
        <dsp:cNvPr id="0" name=""/>
        <dsp:cNvSpPr/>
      </dsp:nvSpPr>
      <dsp:spPr>
        <a:xfrm>
          <a:off x="0" y="3572041"/>
          <a:ext cx="8229600" cy="9520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6CA9FD-5311-4A3C-935C-68CB79C961E2}">
      <dsp:nvSpPr>
        <dsp:cNvPr id="0" name=""/>
        <dsp:cNvSpPr/>
      </dsp:nvSpPr>
      <dsp:spPr>
        <a:xfrm>
          <a:off x="287993" y="3786250"/>
          <a:ext cx="523623" cy="52362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2818DD-FCAE-40B1-8BFE-20DEFB4CD54A}">
      <dsp:nvSpPr>
        <dsp:cNvPr id="0" name=""/>
        <dsp:cNvSpPr/>
      </dsp:nvSpPr>
      <dsp:spPr>
        <a:xfrm>
          <a:off x="1099610" y="3572041"/>
          <a:ext cx="7129989"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977900">
            <a:lnSpc>
              <a:spcPct val="100000"/>
            </a:lnSpc>
            <a:spcBef>
              <a:spcPct val="0"/>
            </a:spcBef>
            <a:spcAft>
              <a:spcPct val="35000"/>
            </a:spcAft>
            <a:buNone/>
          </a:pPr>
          <a:r>
            <a:rPr lang="en-US" sz="2200" kern="1200"/>
            <a:t>Transformers: DistilBERT fine‑tuned; BERTweet fine‑tuned.</a:t>
          </a:r>
        </a:p>
      </dsp:txBody>
      <dsp:txXfrm>
        <a:off x="1099610" y="3572041"/>
        <a:ext cx="7129989" cy="9520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9829DC-19BF-47CE-B824-EA1375CDE3DD}">
      <dsp:nvSpPr>
        <dsp:cNvPr id="0" name=""/>
        <dsp:cNvSpPr/>
      </dsp:nvSpPr>
      <dsp:spPr>
        <a:xfrm>
          <a:off x="2965" y="207251"/>
          <a:ext cx="1782979" cy="471959"/>
        </a:xfrm>
        <a:prstGeom prst="rect">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100000"/>
            </a:lnSpc>
            <a:spcBef>
              <a:spcPct val="0"/>
            </a:spcBef>
            <a:spcAft>
              <a:spcPct val="35000"/>
            </a:spcAft>
            <a:buNone/>
          </a:pPr>
          <a:r>
            <a:rPr lang="en-US" sz="1200" b="1" kern="1200"/>
            <a:t>What they are</a:t>
          </a:r>
          <a:endParaRPr lang="en-US" sz="1200" kern="1200"/>
        </a:p>
      </dsp:txBody>
      <dsp:txXfrm>
        <a:off x="2965" y="207251"/>
        <a:ext cx="1782979" cy="471959"/>
      </dsp:txXfrm>
    </dsp:sp>
    <dsp:sp modelId="{C40512F3-5B83-46AA-A3B2-847F42D53FBF}">
      <dsp:nvSpPr>
        <dsp:cNvPr id="0" name=""/>
        <dsp:cNvSpPr/>
      </dsp:nvSpPr>
      <dsp:spPr>
        <a:xfrm>
          <a:off x="2965" y="679210"/>
          <a:ext cx="1782979" cy="3464876"/>
        </a:xfrm>
        <a:prstGeom prst="rect">
          <a:avLst/>
        </a:prstGeom>
        <a:solidFill>
          <a:schemeClr val="dk2">
            <a:alpha val="90000"/>
            <a:tint val="40000"/>
            <a:hueOff val="0"/>
            <a:satOff val="0"/>
            <a:lumOff val="0"/>
            <a:alphaOff val="0"/>
          </a:schemeClr>
        </a:solidFill>
        <a:ln w="9525" cap="flat" cmpd="sng" algn="ctr">
          <a:solidFill>
            <a:schemeClr val="dk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100000"/>
            </a:lnSpc>
            <a:spcBef>
              <a:spcPct val="0"/>
            </a:spcBef>
            <a:spcAft>
              <a:spcPct val="15000"/>
            </a:spcAft>
            <a:buChar char="•"/>
          </a:pPr>
          <a:r>
            <a:rPr lang="en-US" sz="1200" kern="1200"/>
            <a:t>A neural architecture that replaces recurrence with </a:t>
          </a:r>
          <a:r>
            <a:rPr lang="en-US" sz="1200" b="1" kern="1200"/>
            <a:t>self-attention</a:t>
          </a:r>
          <a:r>
            <a:rPr lang="en-US" sz="1200" kern="1200"/>
            <a:t>.</a:t>
          </a:r>
        </a:p>
        <a:p>
          <a:pPr marL="114300" lvl="1" indent="-114300" algn="l" defTabSz="533400">
            <a:lnSpc>
              <a:spcPct val="100000"/>
            </a:lnSpc>
            <a:spcBef>
              <a:spcPct val="0"/>
            </a:spcBef>
            <a:spcAft>
              <a:spcPct val="15000"/>
            </a:spcAft>
            <a:buChar char="•"/>
          </a:pPr>
          <a:r>
            <a:rPr lang="en-US" sz="1200" kern="1200"/>
            <a:t>Looks at </a:t>
          </a:r>
          <a:r>
            <a:rPr lang="en-US" sz="1200" b="1" kern="1200"/>
            <a:t>all tokens at once</a:t>
          </a:r>
          <a:r>
            <a:rPr lang="en-US" sz="1200" kern="1200"/>
            <a:t> and learns which words should pay attention to which other words.</a:t>
          </a:r>
        </a:p>
      </dsp:txBody>
      <dsp:txXfrm>
        <a:off x="2965" y="679210"/>
        <a:ext cx="1782979" cy="3464876"/>
      </dsp:txXfrm>
    </dsp:sp>
    <dsp:sp modelId="{71512806-4278-447F-843A-A5ECD9FD3345}">
      <dsp:nvSpPr>
        <dsp:cNvPr id="0" name=""/>
        <dsp:cNvSpPr/>
      </dsp:nvSpPr>
      <dsp:spPr>
        <a:xfrm>
          <a:off x="2035561" y="207251"/>
          <a:ext cx="1782979" cy="471959"/>
        </a:xfrm>
        <a:prstGeom prst="rect">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100000"/>
            </a:lnSpc>
            <a:spcBef>
              <a:spcPct val="0"/>
            </a:spcBef>
            <a:spcAft>
              <a:spcPct val="35000"/>
            </a:spcAft>
            <a:buNone/>
          </a:pPr>
          <a:r>
            <a:rPr lang="en-US" sz="1200" b="1" kern="1200"/>
            <a:t>Core ideas</a:t>
          </a:r>
          <a:endParaRPr lang="en-US" sz="1200" kern="1200"/>
        </a:p>
      </dsp:txBody>
      <dsp:txXfrm>
        <a:off x="2035561" y="207251"/>
        <a:ext cx="1782979" cy="471959"/>
      </dsp:txXfrm>
    </dsp:sp>
    <dsp:sp modelId="{D936007A-C8FC-45B4-8484-39CD1CEBCEB2}">
      <dsp:nvSpPr>
        <dsp:cNvPr id="0" name=""/>
        <dsp:cNvSpPr/>
      </dsp:nvSpPr>
      <dsp:spPr>
        <a:xfrm>
          <a:off x="2035561" y="679210"/>
          <a:ext cx="1782979" cy="3464876"/>
        </a:xfrm>
        <a:prstGeom prst="rect">
          <a:avLst/>
        </a:prstGeom>
        <a:solidFill>
          <a:schemeClr val="dk2">
            <a:alpha val="90000"/>
            <a:tint val="40000"/>
            <a:hueOff val="0"/>
            <a:satOff val="0"/>
            <a:lumOff val="0"/>
            <a:alphaOff val="0"/>
          </a:schemeClr>
        </a:solidFill>
        <a:ln w="9525" cap="flat" cmpd="sng" algn="ctr">
          <a:solidFill>
            <a:schemeClr val="dk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100000"/>
            </a:lnSpc>
            <a:spcBef>
              <a:spcPct val="0"/>
            </a:spcBef>
            <a:spcAft>
              <a:spcPct val="15000"/>
            </a:spcAft>
            <a:buChar char="•"/>
          </a:pPr>
          <a:r>
            <a:rPr lang="en-US" sz="1200" b="1" kern="1200"/>
            <a:t>Token → Embedding:</a:t>
          </a:r>
          <a:r>
            <a:rPr lang="en-US" sz="1200" kern="1200"/>
            <a:t> turn words/sub-words/emojis/hashtags into vectors.</a:t>
          </a:r>
        </a:p>
        <a:p>
          <a:pPr marL="114300" lvl="1" indent="-114300" algn="l" defTabSz="533400">
            <a:lnSpc>
              <a:spcPct val="100000"/>
            </a:lnSpc>
            <a:spcBef>
              <a:spcPct val="0"/>
            </a:spcBef>
            <a:spcAft>
              <a:spcPct val="15000"/>
            </a:spcAft>
            <a:buChar char="•"/>
          </a:pPr>
          <a:r>
            <a:rPr lang="en-US" sz="1200" b="1" kern="1200"/>
            <a:t>Positional encoding:</a:t>
          </a:r>
          <a:r>
            <a:rPr lang="en-US" sz="1200" kern="1200"/>
            <a:t> add order info (since there’s no recurrence).</a:t>
          </a:r>
        </a:p>
        <a:p>
          <a:pPr marL="114300" lvl="1" indent="-114300" algn="l" defTabSz="533400">
            <a:lnSpc>
              <a:spcPct val="100000"/>
            </a:lnSpc>
            <a:spcBef>
              <a:spcPct val="0"/>
            </a:spcBef>
            <a:spcAft>
              <a:spcPct val="15000"/>
            </a:spcAft>
            <a:buChar char="•"/>
          </a:pPr>
          <a:r>
            <a:rPr lang="en-US" sz="1200" b="1" kern="1200"/>
            <a:t>Self-attention:</a:t>
          </a:r>
          <a:r>
            <a:rPr lang="en-US" sz="1200" kern="1200"/>
            <a:t> each token forms a </a:t>
          </a:r>
          <a:r>
            <a:rPr lang="en-US" sz="1200" b="1" kern="1200"/>
            <a:t>weighted average</a:t>
          </a:r>
          <a:r>
            <a:rPr lang="en-US" sz="1200" kern="1200"/>
            <a:t> of all tokens; weights = “how relevant is token j to token i?”</a:t>
          </a:r>
        </a:p>
        <a:p>
          <a:pPr marL="114300" lvl="1" indent="-114300" algn="l" defTabSz="533400">
            <a:lnSpc>
              <a:spcPct val="100000"/>
            </a:lnSpc>
            <a:spcBef>
              <a:spcPct val="0"/>
            </a:spcBef>
            <a:spcAft>
              <a:spcPct val="15000"/>
            </a:spcAft>
            <a:buChar char="•"/>
          </a:pPr>
          <a:r>
            <a:rPr lang="en-US" sz="1200" b="1" kern="1200"/>
            <a:t>Stacks of layers:</a:t>
          </a:r>
          <a:r>
            <a:rPr lang="en-US" sz="1200" kern="1200"/>
            <a:t> repeat attention + small feed-forward nets → rich contextual representations.</a:t>
          </a:r>
        </a:p>
      </dsp:txBody>
      <dsp:txXfrm>
        <a:off x="2035561" y="679210"/>
        <a:ext cx="1782979" cy="3464876"/>
      </dsp:txXfrm>
    </dsp:sp>
    <dsp:sp modelId="{381A4638-C968-460D-A300-4E5D876A2982}">
      <dsp:nvSpPr>
        <dsp:cNvPr id="0" name=""/>
        <dsp:cNvSpPr/>
      </dsp:nvSpPr>
      <dsp:spPr>
        <a:xfrm>
          <a:off x="4068158" y="207251"/>
          <a:ext cx="1782979" cy="471959"/>
        </a:xfrm>
        <a:prstGeom prst="rect">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100000"/>
            </a:lnSpc>
            <a:spcBef>
              <a:spcPct val="0"/>
            </a:spcBef>
            <a:spcAft>
              <a:spcPct val="35000"/>
            </a:spcAft>
            <a:buNone/>
          </a:pPr>
          <a:r>
            <a:rPr lang="en-US" sz="1200" b="1" kern="1200"/>
            <a:t>Why they beat RNN/LSTM on text</a:t>
          </a:r>
          <a:endParaRPr lang="en-US" sz="1200" kern="1200"/>
        </a:p>
      </dsp:txBody>
      <dsp:txXfrm>
        <a:off x="4068158" y="207251"/>
        <a:ext cx="1782979" cy="471959"/>
      </dsp:txXfrm>
    </dsp:sp>
    <dsp:sp modelId="{9BDCC98B-EB3A-465D-B9E5-A375C760B1B7}">
      <dsp:nvSpPr>
        <dsp:cNvPr id="0" name=""/>
        <dsp:cNvSpPr/>
      </dsp:nvSpPr>
      <dsp:spPr>
        <a:xfrm>
          <a:off x="4068158" y="679210"/>
          <a:ext cx="1782979" cy="3464876"/>
        </a:xfrm>
        <a:prstGeom prst="rect">
          <a:avLst/>
        </a:prstGeom>
        <a:solidFill>
          <a:schemeClr val="dk2">
            <a:alpha val="90000"/>
            <a:tint val="40000"/>
            <a:hueOff val="0"/>
            <a:satOff val="0"/>
            <a:lumOff val="0"/>
            <a:alphaOff val="0"/>
          </a:schemeClr>
        </a:solidFill>
        <a:ln w="9525" cap="flat" cmpd="sng" algn="ctr">
          <a:solidFill>
            <a:schemeClr val="dk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100000"/>
            </a:lnSpc>
            <a:spcBef>
              <a:spcPct val="0"/>
            </a:spcBef>
            <a:spcAft>
              <a:spcPct val="15000"/>
            </a:spcAft>
            <a:buChar char="•"/>
          </a:pPr>
          <a:r>
            <a:rPr lang="en-US" sz="1200" kern="1200"/>
            <a:t>Parallel over tokens ⇒ </a:t>
          </a:r>
          <a:r>
            <a:rPr lang="en-US" sz="1200" b="1" kern="1200"/>
            <a:t>faster training</a:t>
          </a:r>
          <a:r>
            <a:rPr lang="en-US" sz="1200" kern="1200"/>
            <a:t>.</a:t>
          </a:r>
        </a:p>
        <a:p>
          <a:pPr marL="114300" lvl="1" indent="-114300" algn="l" defTabSz="533400">
            <a:lnSpc>
              <a:spcPct val="100000"/>
            </a:lnSpc>
            <a:spcBef>
              <a:spcPct val="0"/>
            </a:spcBef>
            <a:spcAft>
              <a:spcPct val="15000"/>
            </a:spcAft>
            <a:buChar char="•"/>
          </a:pPr>
          <a:r>
            <a:rPr lang="en-US" sz="1200" kern="1200"/>
            <a:t>Can model </a:t>
          </a:r>
          <a:r>
            <a:rPr lang="en-US" sz="1200" b="1" kern="1200"/>
            <a:t>long-range dependencies</a:t>
          </a:r>
          <a:r>
            <a:rPr lang="en-US" sz="1200" kern="1200"/>
            <a:t> (e.g., “not … good”).</a:t>
          </a:r>
        </a:p>
        <a:p>
          <a:pPr marL="114300" lvl="1" indent="-114300" algn="l" defTabSz="533400">
            <a:lnSpc>
              <a:spcPct val="100000"/>
            </a:lnSpc>
            <a:spcBef>
              <a:spcPct val="0"/>
            </a:spcBef>
            <a:spcAft>
              <a:spcPct val="15000"/>
            </a:spcAft>
            <a:buChar char="•"/>
          </a:pPr>
          <a:r>
            <a:rPr lang="en-US" sz="1200" kern="1200"/>
            <a:t>Scale well (BERT, GPT, T5…).</a:t>
          </a:r>
        </a:p>
      </dsp:txBody>
      <dsp:txXfrm>
        <a:off x="4068158" y="679210"/>
        <a:ext cx="1782979" cy="3464876"/>
      </dsp:txXfrm>
    </dsp:sp>
    <dsp:sp modelId="{041D6D87-00DB-4376-8A46-A6393C69D737}">
      <dsp:nvSpPr>
        <dsp:cNvPr id="0" name=""/>
        <dsp:cNvSpPr/>
      </dsp:nvSpPr>
      <dsp:spPr>
        <a:xfrm>
          <a:off x="6100755" y="207251"/>
          <a:ext cx="1782979" cy="471959"/>
        </a:xfrm>
        <a:prstGeom prst="rect">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100000"/>
            </a:lnSpc>
            <a:spcBef>
              <a:spcPct val="0"/>
            </a:spcBef>
            <a:spcAft>
              <a:spcPct val="35000"/>
            </a:spcAft>
            <a:buNone/>
          </a:pPr>
          <a:r>
            <a:rPr lang="en-US" sz="1200" b="1" kern="1200"/>
            <a:t>How we use them here</a:t>
          </a:r>
          <a:endParaRPr lang="en-US" sz="1200" kern="1200"/>
        </a:p>
      </dsp:txBody>
      <dsp:txXfrm>
        <a:off x="6100755" y="207251"/>
        <a:ext cx="1782979" cy="471959"/>
      </dsp:txXfrm>
    </dsp:sp>
    <dsp:sp modelId="{B2D38174-3859-4359-8EBA-9019BB9F3682}">
      <dsp:nvSpPr>
        <dsp:cNvPr id="0" name=""/>
        <dsp:cNvSpPr/>
      </dsp:nvSpPr>
      <dsp:spPr>
        <a:xfrm>
          <a:off x="6100755" y="679210"/>
          <a:ext cx="1782979" cy="3464876"/>
        </a:xfrm>
        <a:prstGeom prst="rect">
          <a:avLst/>
        </a:prstGeom>
        <a:solidFill>
          <a:schemeClr val="dk2">
            <a:alpha val="90000"/>
            <a:tint val="40000"/>
            <a:hueOff val="0"/>
            <a:satOff val="0"/>
            <a:lumOff val="0"/>
            <a:alphaOff val="0"/>
          </a:schemeClr>
        </a:solidFill>
        <a:ln w="9525" cap="flat" cmpd="sng" algn="ctr">
          <a:solidFill>
            <a:schemeClr val="dk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100000"/>
            </a:lnSpc>
            <a:spcBef>
              <a:spcPct val="0"/>
            </a:spcBef>
            <a:spcAft>
              <a:spcPct val="15000"/>
            </a:spcAft>
            <a:buChar char="•"/>
          </a:pPr>
          <a:r>
            <a:rPr lang="en-US" sz="1200" kern="1200"/>
            <a:t>Start from a </a:t>
          </a:r>
          <a:r>
            <a:rPr lang="en-US" sz="1200" b="1" kern="1200"/>
            <a:t>pretrained</a:t>
          </a:r>
          <a:r>
            <a:rPr lang="en-US" sz="1200" kern="1200"/>
            <a:t> model (learned from huge text).</a:t>
          </a:r>
        </a:p>
        <a:p>
          <a:pPr marL="114300" lvl="1" indent="-114300" algn="l" defTabSz="533400">
            <a:lnSpc>
              <a:spcPct val="100000"/>
            </a:lnSpc>
            <a:spcBef>
              <a:spcPct val="0"/>
            </a:spcBef>
            <a:spcAft>
              <a:spcPct val="15000"/>
            </a:spcAft>
            <a:buChar char="•"/>
          </a:pPr>
          <a:r>
            <a:rPr lang="en-US" sz="1200" b="1" kern="1200"/>
            <a:t>Fine-tune</a:t>
          </a:r>
          <a:r>
            <a:rPr lang="en-US" sz="1200" kern="1200"/>
            <a:t> a small classifier head on Kaggle tweets (disaster vs not).</a:t>
          </a:r>
        </a:p>
        <a:p>
          <a:pPr marL="228600" lvl="2" indent="-114300" algn="l" defTabSz="533400">
            <a:lnSpc>
              <a:spcPct val="90000"/>
            </a:lnSpc>
            <a:spcBef>
              <a:spcPct val="0"/>
            </a:spcBef>
            <a:spcAft>
              <a:spcPct val="15000"/>
            </a:spcAft>
            <a:buChar char="•"/>
          </a:pPr>
          <a:r>
            <a:rPr lang="en-US" sz="1200" kern="1200"/>
            <a:t>DistilBERT: general English.</a:t>
          </a:r>
        </a:p>
        <a:p>
          <a:pPr marL="228600" lvl="2" indent="-114300" algn="l" defTabSz="533400">
            <a:lnSpc>
              <a:spcPct val="90000"/>
            </a:lnSpc>
            <a:spcBef>
              <a:spcPct val="0"/>
            </a:spcBef>
            <a:spcAft>
              <a:spcPct val="15000"/>
            </a:spcAft>
            <a:buChar char="•"/>
          </a:pPr>
          <a:r>
            <a:rPr lang="en-US" sz="1200" b="1" kern="1200"/>
            <a:t>BERTweet:</a:t>
          </a:r>
          <a:r>
            <a:rPr lang="en-US" sz="1200" kern="1200"/>
            <a:t> pretrained on Twitter; understands hashtags, emojis, slang.</a:t>
          </a:r>
        </a:p>
      </dsp:txBody>
      <dsp:txXfrm>
        <a:off x="6100755" y="679210"/>
        <a:ext cx="1782979" cy="346487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D18D18-8D18-4E22-8C01-D323874331FB}">
      <dsp:nvSpPr>
        <dsp:cNvPr id="0" name=""/>
        <dsp:cNvSpPr/>
      </dsp:nvSpPr>
      <dsp:spPr>
        <a:xfrm>
          <a:off x="0" y="0"/>
          <a:ext cx="78867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BCDC1BE4-EA32-4B81-9B82-4744EEC01A75}">
      <dsp:nvSpPr>
        <dsp:cNvPr id="0" name=""/>
        <dsp:cNvSpPr/>
      </dsp:nvSpPr>
      <dsp:spPr>
        <a:xfrm>
          <a:off x="0" y="0"/>
          <a:ext cx="78867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Classical (TF‑IDF/LinearSVC/LogReg): lowercase, strip punctuation; replace URLs/@; drop #.</a:t>
          </a:r>
        </a:p>
      </dsp:txBody>
      <dsp:txXfrm>
        <a:off x="0" y="0"/>
        <a:ext cx="7886700" cy="1087834"/>
      </dsp:txXfrm>
    </dsp:sp>
    <dsp:sp modelId="{0B68EBE7-0846-45D7-83B6-AA6149DD2FA0}">
      <dsp:nvSpPr>
        <dsp:cNvPr id="0" name=""/>
        <dsp:cNvSpPr/>
      </dsp:nvSpPr>
      <dsp:spPr>
        <a:xfrm>
          <a:off x="0" y="1087834"/>
          <a:ext cx="78867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A7B351EE-B97F-4F56-BC9D-7FB40CBA0DD0}">
      <dsp:nvSpPr>
        <dsp:cNvPr id="0" name=""/>
        <dsp:cNvSpPr/>
      </dsp:nvSpPr>
      <dsp:spPr>
        <a:xfrm>
          <a:off x="0" y="1087834"/>
          <a:ext cx="78867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Neural baselines (RNN/BiLSTM): Keras Tokenizer + padding (e.g., max_len=50).</a:t>
          </a:r>
        </a:p>
      </dsp:txBody>
      <dsp:txXfrm>
        <a:off x="0" y="1087834"/>
        <a:ext cx="7886700" cy="1087834"/>
      </dsp:txXfrm>
    </dsp:sp>
    <dsp:sp modelId="{3C089C2B-5E18-4FA8-B00F-7155B4C18B5D}">
      <dsp:nvSpPr>
        <dsp:cNvPr id="0" name=""/>
        <dsp:cNvSpPr/>
      </dsp:nvSpPr>
      <dsp:spPr>
        <a:xfrm>
          <a:off x="0" y="2175669"/>
          <a:ext cx="78867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D3BC32BB-BCF4-4174-A18F-60E00339DBB5}">
      <dsp:nvSpPr>
        <dsp:cNvPr id="0" name=""/>
        <dsp:cNvSpPr/>
      </dsp:nvSpPr>
      <dsp:spPr>
        <a:xfrm>
          <a:off x="0" y="2175669"/>
          <a:ext cx="78867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DistilBERT: minimal normalization; tokenizer handles casing/subwords.</a:t>
          </a:r>
        </a:p>
      </dsp:txBody>
      <dsp:txXfrm>
        <a:off x="0" y="2175669"/>
        <a:ext cx="7886700" cy="1087834"/>
      </dsp:txXfrm>
    </dsp:sp>
    <dsp:sp modelId="{B86972B6-6C39-475E-BD56-ECFA16ADCE1F}">
      <dsp:nvSpPr>
        <dsp:cNvPr id="0" name=""/>
        <dsp:cNvSpPr/>
      </dsp:nvSpPr>
      <dsp:spPr>
        <a:xfrm>
          <a:off x="0" y="3263503"/>
          <a:ext cx="78867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F1B32A3A-A251-4A76-8291-F01E995FCE5C}">
      <dsp:nvSpPr>
        <dsp:cNvPr id="0" name=""/>
        <dsp:cNvSpPr/>
      </dsp:nvSpPr>
      <dsp:spPr>
        <a:xfrm>
          <a:off x="0" y="3263503"/>
          <a:ext cx="78867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BERTweet: light clean (keep emojis/hashtags) + optional KEYWORD/LOCATION prompt.</a:t>
          </a:r>
        </a:p>
      </dsp:txBody>
      <dsp:txXfrm>
        <a:off x="0" y="3263503"/>
        <a:ext cx="7886700" cy="108783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749670-FE1E-4F24-BC96-86DCF3206B34}" type="datetimeFigureOut">
              <a:t>11/9/2025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B4CEB8-8856-4FDF-9995-6C224BF1832B}" type="slidenum">
              <a:t>‹#›</a:t>
            </a:fld>
            <a:endParaRPr lang="en-US"/>
          </a:p>
        </p:txBody>
      </p:sp>
    </p:spTree>
    <p:extLst>
      <p:ext uri="{BB962C8B-B14F-4D97-AF65-F5344CB8AC3E}">
        <p14:creationId xmlns:p14="http://schemas.microsoft.com/office/powerpoint/2010/main" val="1987806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platforms must quickly spot crisis-related posts. The Kaggle </a:t>
            </a:r>
            <a:r>
              <a:rPr lang="en-US" i="1" dirty="0"/>
              <a:t>Disaster Tweets</a:t>
            </a:r>
            <a:r>
              <a:rPr lang="en-US" dirty="0"/>
              <a:t> dataset mirrors that problem with labeled, real tweets—perfect for testing models that separate real emergencies from everyday chatter.”</a:t>
            </a:r>
          </a:p>
        </p:txBody>
      </p:sp>
      <p:sp>
        <p:nvSpPr>
          <p:cNvPr id="4" name="Slide Number Placeholder 3"/>
          <p:cNvSpPr>
            <a:spLocks noGrp="1"/>
          </p:cNvSpPr>
          <p:nvPr>
            <p:ph type="sldNum" sz="quarter" idx="5"/>
          </p:nvPr>
        </p:nvSpPr>
        <p:spPr/>
        <p:txBody>
          <a:bodyPr/>
          <a:lstStyle/>
          <a:p>
            <a:fld id="{AAB4CEB8-8856-4FDF-9995-6C224BF1832B}" type="slidenum">
              <a:rPr lang="en-US"/>
              <a:t>2</a:t>
            </a:fld>
            <a:endParaRPr lang="en-US"/>
          </a:p>
        </p:txBody>
      </p:sp>
    </p:spTree>
    <p:extLst>
      <p:ext uri="{BB962C8B-B14F-4D97-AF65-F5344CB8AC3E}">
        <p14:creationId xmlns:p14="http://schemas.microsoft.com/office/powerpoint/2010/main" val="4177166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a:t>
            </a:r>
            <a:r>
              <a:rPr lang="en-US" dirty="0" err="1"/>
              <a:t>wordclouds</a:t>
            </a:r>
            <a:r>
              <a:rPr lang="en-US" dirty="0"/>
              <a:t> show</a:t>
            </a:r>
          </a:p>
          <a:p>
            <a:pPr marL="285750" indent="-285750">
              <a:buFont typeface="Arial"/>
              <a:buChar char="•"/>
            </a:pPr>
            <a:r>
              <a:rPr lang="en-US" b="1" dirty="0"/>
              <a:t>Left = Disaster tweets</a:t>
            </a:r>
            <a:r>
              <a:rPr lang="en-US" dirty="0"/>
              <a:t>, </a:t>
            </a:r>
            <a:r>
              <a:rPr lang="en-US" b="1" dirty="0"/>
              <a:t>Right = Non-disaster tweets</a:t>
            </a:r>
            <a:r>
              <a:rPr lang="en-US" dirty="0"/>
              <a:t>. Bigger words = appear more often.</a:t>
            </a:r>
            <a:endParaRPr lang="en-US" dirty="0">
              <a:ea typeface="Calibri"/>
              <a:cs typeface="Calibri"/>
            </a:endParaRPr>
          </a:p>
          <a:p>
            <a:pPr marL="285750" indent="-285750">
              <a:buFont typeface="Arial"/>
              <a:buChar char="•"/>
            </a:pPr>
            <a:r>
              <a:rPr lang="en-US" dirty="0"/>
              <a:t>Both sides are dominated by tokens like </a:t>
            </a:r>
            <a:r>
              <a:rPr lang="en-US" b="1" dirty="0"/>
              <a:t>“http”</a:t>
            </a:r>
            <a:r>
              <a:rPr lang="en-US" dirty="0"/>
              <a:t> and </a:t>
            </a:r>
            <a:r>
              <a:rPr lang="en-US" b="1" dirty="0"/>
              <a:t>“amp”</a:t>
            </a:r>
            <a:r>
              <a:rPr lang="en-US" dirty="0"/>
              <a:t> (HTML entity from “&amp;”) → tweets often contain links and scraped artifacts.</a:t>
            </a:r>
            <a:endParaRPr lang="en-US" dirty="0">
              <a:ea typeface="Calibri"/>
              <a:cs typeface="Calibri"/>
            </a:endParaRPr>
          </a:p>
          <a:p>
            <a:r>
              <a:rPr lang="en-US" dirty="0"/>
              <a:t>Class-specific signals</a:t>
            </a:r>
            <a:endParaRPr lang="en-US" dirty="0">
              <a:ea typeface="Calibri"/>
              <a:cs typeface="Calibri"/>
            </a:endParaRPr>
          </a:p>
          <a:p>
            <a:pPr marL="285750" indent="-285750">
              <a:buFont typeface="Arial"/>
              <a:buChar char="•"/>
            </a:pPr>
            <a:r>
              <a:rPr lang="en-US" b="1" dirty="0"/>
              <a:t>Disaster side:</a:t>
            </a:r>
            <a:r>
              <a:rPr lang="en-US" dirty="0"/>
              <a:t> words like </a:t>
            </a:r>
            <a:r>
              <a:rPr lang="en-US" i="1" dirty="0"/>
              <a:t>fire, flood, earthquake, killed, police, evacuate, storm, bomb(er)</a:t>
            </a:r>
            <a:r>
              <a:rPr lang="en-US" dirty="0"/>
              <a:t> — concrete event/impact terms.</a:t>
            </a:r>
            <a:endParaRPr lang="en-US" dirty="0">
              <a:ea typeface="Calibri"/>
              <a:cs typeface="Calibri"/>
            </a:endParaRPr>
          </a:p>
          <a:p>
            <a:pPr marL="285750" indent="-285750">
              <a:buFont typeface="Arial"/>
              <a:buChar char="•"/>
            </a:pPr>
            <a:r>
              <a:rPr lang="en-US" b="1" dirty="0"/>
              <a:t>Non-disaster side:</a:t>
            </a:r>
            <a:r>
              <a:rPr lang="en-US" dirty="0"/>
              <a:t> </a:t>
            </a:r>
            <a:r>
              <a:rPr lang="en-US" i="1" dirty="0"/>
              <a:t>like, get, back, good, day, lol, love</a:t>
            </a:r>
            <a:r>
              <a:rPr lang="en-US" dirty="0"/>
              <a:t> — conversational/emotive language.</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AB4CEB8-8856-4FDF-9995-6C224BF1832B}" type="slidenum">
              <a:rPr lang="en-US"/>
              <a:t>7</a:t>
            </a:fld>
            <a:endParaRPr lang="en-US"/>
          </a:p>
        </p:txBody>
      </p:sp>
    </p:spTree>
    <p:extLst>
      <p:ext uri="{BB962C8B-B14F-4D97-AF65-F5344CB8AC3E}">
        <p14:creationId xmlns:p14="http://schemas.microsoft.com/office/powerpoint/2010/main" val="23077899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LSTMs that read left-to-right, Transformers look at the whole sentence at once. Each token computes attention scores to every other token and pulls in the most relevant info. We add positions so order isn’t lost. Stacking these layers creates context-aware embeddings. We fine-tune pretrained models like </a:t>
            </a:r>
            <a:r>
              <a:rPr lang="en-US" dirty="0" err="1"/>
              <a:t>DistilBERT</a:t>
            </a:r>
            <a:r>
              <a:rPr lang="en-US" dirty="0"/>
              <a:t> or </a:t>
            </a:r>
            <a:r>
              <a:rPr lang="en-US" dirty="0" err="1"/>
              <a:t>BERTweet</a:t>
            </a:r>
            <a:r>
              <a:rPr lang="en-US" dirty="0"/>
              <a:t> on our tweet labels; </a:t>
            </a:r>
            <a:r>
              <a:rPr lang="en-US" dirty="0" err="1"/>
              <a:t>BERTweet</a:t>
            </a:r>
            <a:r>
              <a:rPr lang="en-US" dirty="0"/>
              <a:t> is especially good here because it was pretrained on Twitter, so it ‘gets’ hashtags/emojis. </a:t>
            </a:r>
          </a:p>
        </p:txBody>
      </p:sp>
      <p:sp>
        <p:nvSpPr>
          <p:cNvPr id="4" name="Slide Number Placeholder 3"/>
          <p:cNvSpPr>
            <a:spLocks noGrp="1"/>
          </p:cNvSpPr>
          <p:nvPr>
            <p:ph type="sldNum" sz="quarter" idx="5"/>
          </p:nvPr>
        </p:nvSpPr>
        <p:spPr/>
        <p:txBody>
          <a:bodyPr/>
          <a:lstStyle/>
          <a:p>
            <a:fld id="{AAB4CEB8-8856-4FDF-9995-6C224BF1832B}" type="slidenum">
              <a:t>10</a:t>
            </a:fld>
            <a:endParaRPr lang="en-US"/>
          </a:p>
        </p:txBody>
      </p:sp>
    </p:spTree>
    <p:extLst>
      <p:ext uri="{BB962C8B-B14F-4D97-AF65-F5344CB8AC3E}">
        <p14:creationId xmlns:p14="http://schemas.microsoft.com/office/powerpoint/2010/main" val="1582746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a:t>Tuned the </a:t>
            </a:r>
            <a:r>
              <a:rPr lang="en-US" b="1"/>
              <a:t>decision threshold</a:t>
            </a:r>
            <a:r>
              <a:rPr lang="en-US"/>
              <a:t> on the validation set to </a:t>
            </a:r>
            <a:r>
              <a:rPr lang="en-US" b="1"/>
              <a:t>maximize F1</a:t>
            </a:r>
            <a:r>
              <a:rPr lang="en-US"/>
              <a:t> (not fixed at 0.50).</a:t>
            </a:r>
          </a:p>
          <a:p>
            <a:pPr marL="285750" indent="-285750">
              <a:buFont typeface="Arial"/>
              <a:buChar char="•"/>
            </a:pPr>
            <a:r>
              <a:rPr lang="en-US"/>
              <a:t>Let the model see context by </a:t>
            </a:r>
            <a:r>
              <a:rPr lang="en-US" b="1"/>
              <a:t>injecting metadata</a:t>
            </a:r>
            <a:r>
              <a:rPr lang="en-US"/>
              <a:t> (keyword/location) into </a:t>
            </a:r>
            <a:r>
              <a:rPr lang="en-US" b="1" err="1"/>
              <a:t>BERTweet</a:t>
            </a:r>
            <a:r>
              <a:rPr lang="en-US"/>
              <a:t> inputs.</a:t>
            </a:r>
          </a:p>
          <a:p>
            <a:pPr marL="285750" indent="-285750">
              <a:buFont typeface="Arial"/>
              <a:buChar char="•"/>
            </a:pPr>
            <a:r>
              <a:rPr lang="en-US"/>
              <a:t>Matched </a:t>
            </a:r>
            <a:r>
              <a:rPr lang="en-US" b="1"/>
              <a:t>cleaning to model family</a:t>
            </a:r>
            <a:r>
              <a:rPr lang="en-US"/>
              <a:t>: light/emoji-preserving for transformers; punctuation/URL normalization for TF-IDF/SVC.</a:t>
            </a:r>
          </a:p>
          <a:p>
            <a:pPr marL="285750" indent="-285750">
              <a:buFont typeface="Arial"/>
              <a:buChar char="•"/>
            </a:pPr>
            <a:r>
              <a:rPr lang="en-US"/>
              <a:t>Reported </a:t>
            </a:r>
            <a:r>
              <a:rPr lang="en-US" b="1"/>
              <a:t>ROC-AUC</a:t>
            </a:r>
            <a:r>
              <a:rPr lang="en-US"/>
              <a:t> and </a:t>
            </a:r>
            <a:r>
              <a:rPr lang="en-US" b="1"/>
              <a:t>PR-AUC</a:t>
            </a:r>
            <a:r>
              <a:rPr lang="en-US"/>
              <a:t> in addition to accuracy/F1 to reflect class-imbalance robustness.</a:t>
            </a:r>
          </a:p>
          <a:p>
            <a:pPr marL="285750" indent="-285750">
              <a:buFont typeface="Arial"/>
              <a:buChar char="•"/>
            </a:pPr>
            <a:r>
              <a:rPr lang="en-US"/>
              <a:t>Ran </a:t>
            </a:r>
            <a:r>
              <a:rPr lang="en-US" b="1"/>
              <a:t>ablation checks</a:t>
            </a:r>
            <a:r>
              <a:rPr lang="en-US"/>
              <a:t> (with/without metadata, different cleaners) to confirm what actually helped.</a:t>
            </a:r>
          </a:p>
          <a:p>
            <a:pPr marL="285750" indent="-285750">
              <a:buFont typeface="Arial"/>
              <a:buChar char="•"/>
            </a:pPr>
            <a:r>
              <a:rPr lang="en-US"/>
              <a:t>Saved and compared models on a </a:t>
            </a:r>
            <a:r>
              <a:rPr lang="en-US" b="1"/>
              <a:t>common split</a:t>
            </a:r>
            <a:r>
              <a:rPr lang="en-US"/>
              <a:t> for fair head-to-head, and on </a:t>
            </a:r>
            <a:r>
              <a:rPr lang="en-US" b="1"/>
              <a:t>native splits</a:t>
            </a:r>
            <a:r>
              <a:rPr lang="en-US"/>
              <a:t> for internal baselines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AB4CEB8-8856-4FDF-9995-6C224BF1832B}" type="slidenum">
              <a:rPr lang="en-US"/>
              <a:t>15</a:t>
            </a:fld>
            <a:endParaRPr lang="en-US"/>
          </a:p>
        </p:txBody>
      </p:sp>
    </p:spTree>
    <p:extLst>
      <p:ext uri="{BB962C8B-B14F-4D97-AF65-F5344CB8AC3E}">
        <p14:creationId xmlns:p14="http://schemas.microsoft.com/office/powerpoint/2010/main" val="1099233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9.jpeg"/><Relationship Id="rId7" Type="http://schemas.openxmlformats.org/officeDocument/2006/relationships/diagramColors" Target="../diagrams/colors4.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5" name="Group 74">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7551" y="3985"/>
            <a:ext cx="7329573" cy="6858000"/>
            <a:chOff x="1303402" y="3985"/>
            <a:chExt cx="9772765" cy="6858000"/>
          </a:xfrm>
        </p:grpSpPr>
        <p:sp>
          <p:nvSpPr>
            <p:cNvPr id="59" name="Freeform: Shape 58">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1" name="Freeform: Shape 60">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2" name="Freeform: Shape 61">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78" name="Freeform: Shape 7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5" name="Freeform: Shape 64">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p:cNvSpPr>
            <a:spLocks noGrp="1"/>
          </p:cNvSpPr>
          <p:nvPr>
            <p:ph type="ctrTitle"/>
          </p:nvPr>
        </p:nvSpPr>
        <p:spPr>
          <a:xfrm>
            <a:off x="2411796" y="1764407"/>
            <a:ext cx="4320635" cy="2310312"/>
          </a:xfrm>
        </p:spPr>
        <p:txBody>
          <a:bodyPr>
            <a:normAutofit/>
          </a:bodyPr>
          <a:lstStyle/>
          <a:p>
            <a:r>
              <a:rPr lang="en-US" sz="4500">
                <a:solidFill>
                  <a:schemeClr val="tx2"/>
                </a:solidFill>
              </a:rPr>
              <a:t>Disaster Tweets Classification</a:t>
            </a:r>
          </a:p>
        </p:txBody>
      </p:sp>
      <p:sp>
        <p:nvSpPr>
          <p:cNvPr id="3" name="Subtitle 2"/>
          <p:cNvSpPr>
            <a:spLocks noGrp="1"/>
          </p:cNvSpPr>
          <p:nvPr>
            <p:ph type="subTitle" idx="1"/>
          </p:nvPr>
        </p:nvSpPr>
        <p:spPr>
          <a:xfrm>
            <a:off x="2411796" y="4165152"/>
            <a:ext cx="4320635" cy="682079"/>
          </a:xfrm>
        </p:spPr>
        <p:txBody>
          <a:bodyPr vert="horz" lIns="91440" tIns="45720" rIns="91440" bIns="45720" rtlCol="0">
            <a:normAutofit/>
          </a:bodyPr>
          <a:lstStyle/>
          <a:p>
            <a:pPr>
              <a:lnSpc>
                <a:spcPct val="90000"/>
              </a:lnSpc>
            </a:pPr>
            <a:r>
              <a:rPr lang="en-US" sz="1000">
                <a:solidFill>
                  <a:schemeClr val="tx2"/>
                </a:solidFill>
              </a:rPr>
              <a:t>By</a:t>
            </a:r>
          </a:p>
          <a:p>
            <a:pPr>
              <a:lnSpc>
                <a:spcPct val="90000"/>
              </a:lnSpc>
            </a:pPr>
            <a:r>
              <a:rPr lang="en-US" sz="1000">
                <a:solidFill>
                  <a:schemeClr val="tx2"/>
                </a:solidFill>
              </a:rPr>
              <a:t>Jonathan James</a:t>
            </a:r>
          </a:p>
          <a:p>
            <a:pPr>
              <a:lnSpc>
                <a:spcPct val="90000"/>
              </a:lnSpc>
            </a:pPr>
            <a:r>
              <a:rPr lang="en-US" sz="1000">
                <a:solidFill>
                  <a:schemeClr val="tx2"/>
                </a:solidFill>
                <a:ea typeface="Calibri"/>
                <a:cs typeface="Calibri"/>
              </a:rPr>
              <a:t>Lakshmi Narasimha Koushik Devalapalli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37673" y="348865"/>
            <a:ext cx="7288583" cy="1576446"/>
          </a:xfrm>
        </p:spPr>
        <p:txBody>
          <a:bodyPr anchor="ctr">
            <a:normAutofit/>
          </a:bodyPr>
          <a:lstStyle/>
          <a:p>
            <a:r>
              <a:rPr lang="en-US" sz="3500">
                <a:solidFill>
                  <a:srgbClr val="FFFFFF"/>
                </a:solidFill>
              </a:rPr>
              <a:t>Project Idea &amp; Competition Rationale</a:t>
            </a:r>
          </a:p>
        </p:txBody>
      </p:sp>
      <p:graphicFrame>
        <p:nvGraphicFramePr>
          <p:cNvPr id="5" name="Content Placeholder 2">
            <a:extLst>
              <a:ext uri="{FF2B5EF4-FFF2-40B4-BE49-F238E27FC236}">
                <a16:creationId xmlns:a16="http://schemas.microsoft.com/office/drawing/2014/main" id="{A6A789C9-61AF-4988-BABE-343BF3766123}"/>
              </a:ext>
            </a:extLst>
          </p:cNvPr>
          <p:cNvGraphicFramePr>
            <a:graphicFrameLocks noGrp="1"/>
          </p:cNvGraphicFramePr>
          <p:nvPr>
            <p:ph idx="1"/>
            <p:extLst>
              <p:ext uri="{D42A27DB-BD31-4B8C-83A1-F6EECF244321}">
                <p14:modId xmlns:p14="http://schemas.microsoft.com/office/powerpoint/2010/main" val="3119893000"/>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US" sz="4000"/>
              <a:t>Data Exploration (highlights)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A31BF5FF-0EBF-EFF5-F57F-25ACD1AF149C}"/>
              </a:ext>
            </a:extLst>
          </p:cNvPr>
          <p:cNvGraphicFramePr>
            <a:graphicFrameLocks noGrp="1"/>
          </p:cNvGraphicFramePr>
          <p:nvPr>
            <p:ph idx="1"/>
            <p:extLst>
              <p:ext uri="{D42A27DB-BD31-4B8C-83A1-F6EECF244321}">
                <p14:modId xmlns:p14="http://schemas.microsoft.com/office/powerpoint/2010/main" val="1540751290"/>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72088"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p:cNvSpPr>
            <a:spLocks noGrp="1"/>
          </p:cNvSpPr>
          <p:nvPr>
            <p:ph type="title"/>
          </p:nvPr>
        </p:nvSpPr>
        <p:spPr>
          <a:xfrm>
            <a:off x="482601" y="643467"/>
            <a:ext cx="3465438" cy="4567137"/>
          </a:xfrm>
        </p:spPr>
        <p:txBody>
          <a:bodyPr vert="horz" lIns="91440" tIns="45720" rIns="91440" bIns="45720" rtlCol="0" anchor="b">
            <a:normAutofit/>
          </a:bodyPr>
          <a:lstStyle/>
          <a:p>
            <a:pPr algn="l" defTabSz="914400">
              <a:lnSpc>
                <a:spcPct val="90000"/>
              </a:lnSpc>
            </a:pPr>
            <a:r>
              <a:rPr lang="en-US" sz="3800" kern="1200">
                <a:solidFill>
                  <a:schemeClr val="tx1"/>
                </a:solidFill>
                <a:latin typeface="+mj-lt"/>
                <a:ea typeface="+mj-ea"/>
                <a:cs typeface="+mj-cs"/>
              </a:rPr>
              <a:t>EDA — Class Distribution</a:t>
            </a:r>
          </a:p>
        </p:txBody>
      </p:sp>
      <p:pic>
        <p:nvPicPr>
          <p:cNvPr id="3" name="Picture 2" descr="A graph of a class distribution&#10;&#10;AI-generated content may be incorrect.">
            <a:extLst>
              <a:ext uri="{FF2B5EF4-FFF2-40B4-BE49-F238E27FC236}">
                <a16:creationId xmlns:a16="http://schemas.microsoft.com/office/drawing/2014/main" id="{C34F703F-E5E2-0985-D5FC-516E58E1E7FE}"/>
              </a:ext>
            </a:extLst>
          </p:cNvPr>
          <p:cNvPicPr>
            <a:picLocks noChangeAspect="1"/>
          </p:cNvPicPr>
          <p:nvPr/>
        </p:nvPicPr>
        <p:blipFill>
          <a:blip r:embed="rId2"/>
          <a:stretch>
            <a:fillRect/>
          </a:stretch>
        </p:blipFill>
        <p:spPr>
          <a:xfrm>
            <a:off x="4954689" y="1881448"/>
            <a:ext cx="3706710" cy="30951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9160" y="457200"/>
            <a:ext cx="8182230" cy="1368614"/>
          </a:xfrm>
        </p:spPr>
        <p:txBody>
          <a:bodyPr vert="horz" lIns="91440" tIns="45720" rIns="91440" bIns="45720" rtlCol="0" anchor="ctr">
            <a:normAutofit/>
          </a:bodyPr>
          <a:lstStyle/>
          <a:p>
            <a:pPr defTabSz="914400">
              <a:lnSpc>
                <a:spcPct val="90000"/>
              </a:lnSpc>
            </a:pPr>
            <a:r>
              <a:rPr lang="en-US" sz="5700"/>
              <a:t>EDA — Top Keywords </a:t>
            </a:r>
          </a:p>
        </p:txBody>
      </p:sp>
      <p:sp>
        <p:nvSpPr>
          <p:cNvPr id="60"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37560" y="1850683"/>
            <a:ext cx="2468880" cy="18288"/>
          </a:xfrm>
          <a:custGeom>
            <a:avLst/>
            <a:gdLst>
              <a:gd name="csX0" fmla="*/ 0 w 2468880"/>
              <a:gd name="csY0" fmla="*/ 0 h 18288"/>
              <a:gd name="csX1" fmla="*/ 592531 w 2468880"/>
              <a:gd name="csY1" fmla="*/ 0 h 18288"/>
              <a:gd name="csX2" fmla="*/ 1160374 w 2468880"/>
              <a:gd name="csY2" fmla="*/ 0 h 18288"/>
              <a:gd name="csX3" fmla="*/ 1728216 w 2468880"/>
              <a:gd name="csY3" fmla="*/ 0 h 18288"/>
              <a:gd name="csX4" fmla="*/ 2468880 w 2468880"/>
              <a:gd name="csY4" fmla="*/ 0 h 18288"/>
              <a:gd name="csX5" fmla="*/ 2468880 w 2468880"/>
              <a:gd name="csY5" fmla="*/ 18288 h 18288"/>
              <a:gd name="csX6" fmla="*/ 1802282 w 2468880"/>
              <a:gd name="csY6" fmla="*/ 18288 h 18288"/>
              <a:gd name="csX7" fmla="*/ 1209751 w 2468880"/>
              <a:gd name="csY7" fmla="*/ 18288 h 18288"/>
              <a:gd name="csX8" fmla="*/ 641909 w 2468880"/>
              <a:gd name="csY8" fmla="*/ 18288 h 18288"/>
              <a:gd name="csX9" fmla="*/ 0 w 2468880"/>
              <a:gd name="csY9" fmla="*/ 18288 h 18288"/>
              <a:gd name="csX10" fmla="*/ 0 w 2468880"/>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68880" h="18288" fill="none" extrusionOk="0">
                <a:moveTo>
                  <a:pt x="0" y="0"/>
                </a:moveTo>
                <a:cubicBezTo>
                  <a:pt x="171523" y="-1510"/>
                  <a:pt x="416079" y="20036"/>
                  <a:pt x="592531" y="0"/>
                </a:cubicBezTo>
                <a:cubicBezTo>
                  <a:pt x="768983" y="-20036"/>
                  <a:pt x="878305" y="13110"/>
                  <a:pt x="1160374" y="0"/>
                </a:cubicBezTo>
                <a:cubicBezTo>
                  <a:pt x="1442443" y="-13110"/>
                  <a:pt x="1612108" y="24695"/>
                  <a:pt x="1728216" y="0"/>
                </a:cubicBezTo>
                <a:cubicBezTo>
                  <a:pt x="1844324" y="-24695"/>
                  <a:pt x="2271040" y="20667"/>
                  <a:pt x="2468880" y="0"/>
                </a:cubicBezTo>
                <a:cubicBezTo>
                  <a:pt x="2468302" y="4771"/>
                  <a:pt x="2469633" y="12323"/>
                  <a:pt x="2468880" y="18288"/>
                </a:cubicBezTo>
                <a:cubicBezTo>
                  <a:pt x="2229297" y="-14659"/>
                  <a:pt x="2066775" y="30253"/>
                  <a:pt x="1802282" y="18288"/>
                </a:cubicBezTo>
                <a:cubicBezTo>
                  <a:pt x="1537789" y="6323"/>
                  <a:pt x="1379930" y="22266"/>
                  <a:pt x="1209751" y="18288"/>
                </a:cubicBezTo>
                <a:cubicBezTo>
                  <a:pt x="1039572" y="14310"/>
                  <a:pt x="837025" y="12850"/>
                  <a:pt x="641909" y="18288"/>
                </a:cubicBezTo>
                <a:cubicBezTo>
                  <a:pt x="446793" y="23726"/>
                  <a:pt x="170561" y="18472"/>
                  <a:pt x="0" y="18288"/>
                </a:cubicBezTo>
                <a:cubicBezTo>
                  <a:pt x="841" y="12879"/>
                  <a:pt x="-726" y="3977"/>
                  <a:pt x="0" y="0"/>
                </a:cubicBezTo>
                <a:close/>
              </a:path>
              <a:path w="2468880" h="18288" stroke="0" extrusionOk="0">
                <a:moveTo>
                  <a:pt x="0" y="0"/>
                </a:moveTo>
                <a:cubicBezTo>
                  <a:pt x="190931" y="24910"/>
                  <a:pt x="333688" y="11559"/>
                  <a:pt x="567842" y="0"/>
                </a:cubicBezTo>
                <a:cubicBezTo>
                  <a:pt x="801996" y="-11559"/>
                  <a:pt x="939971" y="-5677"/>
                  <a:pt x="1234440" y="0"/>
                </a:cubicBezTo>
                <a:cubicBezTo>
                  <a:pt x="1528909" y="5677"/>
                  <a:pt x="1658539" y="5184"/>
                  <a:pt x="1777594" y="0"/>
                </a:cubicBezTo>
                <a:cubicBezTo>
                  <a:pt x="1896649" y="-5184"/>
                  <a:pt x="2186164" y="23915"/>
                  <a:pt x="2468880" y="0"/>
                </a:cubicBezTo>
                <a:cubicBezTo>
                  <a:pt x="2468266" y="8857"/>
                  <a:pt x="2469384" y="13619"/>
                  <a:pt x="2468880" y="18288"/>
                </a:cubicBezTo>
                <a:cubicBezTo>
                  <a:pt x="2271330" y="36599"/>
                  <a:pt x="2001027" y="31554"/>
                  <a:pt x="1876349" y="18288"/>
                </a:cubicBezTo>
                <a:cubicBezTo>
                  <a:pt x="1751671" y="5022"/>
                  <a:pt x="1364652" y="15063"/>
                  <a:pt x="1209751" y="18288"/>
                </a:cubicBezTo>
                <a:cubicBezTo>
                  <a:pt x="1054850" y="21513"/>
                  <a:pt x="748438" y="20074"/>
                  <a:pt x="617220" y="18288"/>
                </a:cubicBezTo>
                <a:cubicBezTo>
                  <a:pt x="486002" y="16502"/>
                  <a:pt x="237432" y="27200"/>
                  <a:pt x="0" y="18288"/>
                </a:cubicBezTo>
                <a:cubicBezTo>
                  <a:pt x="-487" y="10816"/>
                  <a:pt x="-839" y="605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of a number of keywords&#10;&#10;AI-generated content may be incorrect.">
            <a:extLst>
              <a:ext uri="{FF2B5EF4-FFF2-40B4-BE49-F238E27FC236}">
                <a16:creationId xmlns:a16="http://schemas.microsoft.com/office/drawing/2014/main" id="{56CE82DF-EB08-1080-7A3D-255B50F3D27D}"/>
              </a:ext>
            </a:extLst>
          </p:cNvPr>
          <p:cNvPicPr>
            <a:picLocks noChangeAspect="1"/>
          </p:cNvPicPr>
          <p:nvPr/>
        </p:nvPicPr>
        <p:blipFill>
          <a:blip r:embed="rId2"/>
          <a:stretch>
            <a:fillRect/>
          </a:stretch>
        </p:blipFill>
        <p:spPr>
          <a:xfrm>
            <a:off x="240030" y="3201303"/>
            <a:ext cx="4210812" cy="2282871"/>
          </a:xfrm>
          <a:prstGeom prst="rect">
            <a:avLst/>
          </a:prstGeom>
        </p:spPr>
      </p:pic>
      <p:pic>
        <p:nvPicPr>
          <p:cNvPr id="5" name="Picture 4" descr="A graph of keywords&#10;&#10;AI-generated content may be incorrect.">
            <a:extLst>
              <a:ext uri="{FF2B5EF4-FFF2-40B4-BE49-F238E27FC236}">
                <a16:creationId xmlns:a16="http://schemas.microsoft.com/office/drawing/2014/main" id="{B6B9BF9F-DBF0-AB29-707E-A09403A7916D}"/>
              </a:ext>
            </a:extLst>
          </p:cNvPr>
          <p:cNvPicPr>
            <a:picLocks noChangeAspect="1"/>
          </p:cNvPicPr>
          <p:nvPr/>
        </p:nvPicPr>
        <p:blipFill>
          <a:blip r:embed="rId3"/>
          <a:stretch>
            <a:fillRect/>
          </a:stretch>
        </p:blipFill>
        <p:spPr>
          <a:xfrm>
            <a:off x="4690872" y="3203808"/>
            <a:ext cx="4210812" cy="22728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21506" y="494414"/>
            <a:ext cx="7900987" cy="817403"/>
          </a:xfrm>
        </p:spPr>
        <p:txBody>
          <a:bodyPr vert="horz" lIns="91440" tIns="45720" rIns="91440" bIns="45720" rtlCol="0" anchor="b">
            <a:normAutofit/>
          </a:bodyPr>
          <a:lstStyle/>
          <a:p>
            <a:pPr defTabSz="914400">
              <a:lnSpc>
                <a:spcPct val="90000"/>
              </a:lnSpc>
            </a:pPr>
            <a:r>
              <a:rPr lang="en-US" sz="3100" kern="1200">
                <a:solidFill>
                  <a:schemeClr val="tx1"/>
                </a:solidFill>
                <a:latin typeface="+mj-lt"/>
                <a:ea typeface="+mj-ea"/>
                <a:cs typeface="+mj-cs"/>
              </a:rPr>
              <a:t>EDA — Top Locations</a:t>
            </a:r>
          </a:p>
        </p:txBody>
      </p:sp>
      <p:pic>
        <p:nvPicPr>
          <p:cNvPr id="5" name="Picture 4" descr="A graph of a number of locations&#10;&#10;AI-generated content may be incorrect.">
            <a:extLst>
              <a:ext uri="{FF2B5EF4-FFF2-40B4-BE49-F238E27FC236}">
                <a16:creationId xmlns:a16="http://schemas.microsoft.com/office/drawing/2014/main" id="{45CFC5DF-682D-CDAF-9F6F-1729C5EFCF88}"/>
              </a:ext>
            </a:extLst>
          </p:cNvPr>
          <p:cNvPicPr>
            <a:picLocks noChangeAspect="1"/>
          </p:cNvPicPr>
          <p:nvPr/>
        </p:nvPicPr>
        <p:blipFill>
          <a:blip r:embed="rId2"/>
          <a:srcRect l="3614" r="2" b="2"/>
          <a:stretch>
            <a:fillRect/>
          </a:stretch>
        </p:blipFill>
        <p:spPr>
          <a:xfrm>
            <a:off x="785534" y="2354239"/>
            <a:ext cx="7572931" cy="39480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2127D0C-5B3A-093F-0174-BE00024DA243}"/>
              </a:ext>
            </a:extLst>
          </p:cNvPr>
          <p:cNvSpPr>
            <a:spLocks noGrp="1"/>
          </p:cNvSpPr>
          <p:nvPr>
            <p:ph type="title"/>
          </p:nvPr>
        </p:nvSpPr>
        <p:spPr>
          <a:xfrm>
            <a:off x="621506" y="494414"/>
            <a:ext cx="7900987" cy="817403"/>
          </a:xfrm>
        </p:spPr>
        <p:txBody>
          <a:bodyPr vert="horz" lIns="91440" tIns="45720" rIns="91440" bIns="45720" rtlCol="0" anchor="b">
            <a:normAutofit/>
          </a:bodyPr>
          <a:lstStyle/>
          <a:p>
            <a:pPr defTabSz="914400">
              <a:lnSpc>
                <a:spcPct val="90000"/>
              </a:lnSpc>
            </a:pPr>
            <a:r>
              <a:rPr lang="en-US" sz="3100" dirty="0">
                <a:ea typeface="Calibri"/>
                <a:cs typeface="Calibri"/>
              </a:rPr>
              <a:t>Word Clouds</a:t>
            </a:r>
            <a:endParaRPr lang="en-US" sz="3100" kern="1200" dirty="0">
              <a:solidFill>
                <a:schemeClr val="tx1"/>
              </a:solidFill>
              <a:latin typeface="+mj-lt"/>
              <a:ea typeface="+mj-ea"/>
              <a:cs typeface="+mj-cs"/>
            </a:endParaRPr>
          </a:p>
        </p:txBody>
      </p:sp>
      <p:pic>
        <p:nvPicPr>
          <p:cNvPr id="3" name="Picture 2" descr="A close-up of words&#10;&#10;AI-generated content may be incorrect.">
            <a:extLst>
              <a:ext uri="{FF2B5EF4-FFF2-40B4-BE49-F238E27FC236}">
                <a16:creationId xmlns:a16="http://schemas.microsoft.com/office/drawing/2014/main" id="{6F057299-53E3-3D05-F4A1-062738045D64}"/>
              </a:ext>
            </a:extLst>
          </p:cNvPr>
          <p:cNvPicPr>
            <a:picLocks noChangeAspect="1"/>
          </p:cNvPicPr>
          <p:nvPr/>
        </p:nvPicPr>
        <p:blipFill>
          <a:blip r:embed="rId3"/>
          <a:stretch>
            <a:fillRect/>
          </a:stretch>
        </p:blipFill>
        <p:spPr>
          <a:xfrm>
            <a:off x="542925" y="2669888"/>
            <a:ext cx="8058150" cy="2705953"/>
          </a:xfrm>
          <a:prstGeom prst="rect">
            <a:avLst/>
          </a:prstGeom>
        </p:spPr>
      </p:pic>
    </p:spTree>
    <p:extLst>
      <p:ext uri="{BB962C8B-B14F-4D97-AF65-F5344CB8AC3E}">
        <p14:creationId xmlns:p14="http://schemas.microsoft.com/office/powerpoint/2010/main" val="2860365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21506" y="494414"/>
            <a:ext cx="7900987" cy="817403"/>
          </a:xfrm>
        </p:spPr>
        <p:txBody>
          <a:bodyPr vert="horz" lIns="91440" tIns="45720" rIns="91440" bIns="45720" rtlCol="0" anchor="b">
            <a:normAutofit/>
          </a:bodyPr>
          <a:lstStyle/>
          <a:p>
            <a:pPr defTabSz="914400">
              <a:lnSpc>
                <a:spcPct val="90000"/>
              </a:lnSpc>
            </a:pPr>
            <a:r>
              <a:rPr lang="en-US" sz="3100" kern="1200">
                <a:solidFill>
                  <a:schemeClr val="tx1"/>
                </a:solidFill>
                <a:latin typeface="+mj-lt"/>
                <a:ea typeface="+mj-ea"/>
                <a:cs typeface="+mj-cs"/>
              </a:rPr>
              <a:t>EDA — Length / Histogram</a:t>
            </a:r>
          </a:p>
        </p:txBody>
      </p:sp>
      <p:pic>
        <p:nvPicPr>
          <p:cNvPr id="3" name="Picture 2">
            <a:extLst>
              <a:ext uri="{FF2B5EF4-FFF2-40B4-BE49-F238E27FC236}">
                <a16:creationId xmlns:a16="http://schemas.microsoft.com/office/drawing/2014/main" id="{8353777B-C369-73DE-A6D8-DFF2BEC94AAA}"/>
              </a:ext>
            </a:extLst>
          </p:cNvPr>
          <p:cNvPicPr>
            <a:picLocks noChangeAspect="1"/>
          </p:cNvPicPr>
          <p:nvPr/>
        </p:nvPicPr>
        <p:blipFill>
          <a:blip r:embed="rId2"/>
          <a:stretch>
            <a:fillRect/>
          </a:stretch>
        </p:blipFill>
        <p:spPr>
          <a:xfrm>
            <a:off x="1487559" y="2354239"/>
            <a:ext cx="6168881" cy="39480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Models Tried</a:t>
            </a:r>
          </a:p>
        </p:txBody>
      </p:sp>
      <p:graphicFrame>
        <p:nvGraphicFramePr>
          <p:cNvPr id="27" name="Content Placeholder 2">
            <a:extLst>
              <a:ext uri="{FF2B5EF4-FFF2-40B4-BE49-F238E27FC236}">
                <a16:creationId xmlns:a16="http://schemas.microsoft.com/office/drawing/2014/main" id="{306283C3-E719-ECEC-38CB-C3197668EBCD}"/>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1" name="Picture 40">
            <a:extLst>
              <a:ext uri="{FF2B5EF4-FFF2-40B4-BE49-F238E27FC236}">
                <a16:creationId xmlns:a16="http://schemas.microsoft.com/office/drawing/2014/main" id="{56C130B5-FAFE-5E84-61FF-BA5EC61A8DD8}"/>
              </a:ext>
            </a:extLst>
          </p:cNvPr>
          <p:cNvPicPr>
            <a:picLocks noChangeAspect="1"/>
          </p:cNvPicPr>
          <p:nvPr/>
        </p:nvPicPr>
        <p:blipFill>
          <a:blip r:embed="rId3">
            <a:duotone>
              <a:schemeClr val="bg2">
                <a:shade val="45000"/>
                <a:satMod val="135000"/>
              </a:schemeClr>
              <a:prstClr val="white"/>
            </a:duotone>
          </a:blip>
          <a:srcRect r="27259" b="9089"/>
          <a:stretch>
            <a:fillRect/>
          </a:stretch>
        </p:blipFill>
        <p:spPr>
          <a:xfrm>
            <a:off x="20" y="10"/>
            <a:ext cx="9143980" cy="6857990"/>
          </a:xfrm>
          <a:prstGeom prst="rect">
            <a:avLst/>
          </a:prstGeom>
        </p:spPr>
      </p:pic>
      <p:sp>
        <p:nvSpPr>
          <p:cNvPr id="42" name="Rectangle 4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vert="horz" lIns="91440" tIns="45720" rIns="91440" bIns="45720" rtlCol="0" anchor="ctr">
            <a:normAutofit/>
          </a:bodyPr>
          <a:lstStyle/>
          <a:p>
            <a:pPr algn="l" defTabSz="914400">
              <a:lnSpc>
                <a:spcPct val="90000"/>
              </a:lnSpc>
            </a:pPr>
            <a:r>
              <a:rPr lang="en-US"/>
              <a:t>Transformers</a:t>
            </a:r>
          </a:p>
        </p:txBody>
      </p:sp>
      <p:graphicFrame>
        <p:nvGraphicFramePr>
          <p:cNvPr id="5" name="TextBox 2">
            <a:extLst>
              <a:ext uri="{FF2B5EF4-FFF2-40B4-BE49-F238E27FC236}">
                <a16:creationId xmlns:a16="http://schemas.microsoft.com/office/drawing/2014/main" id="{395207C9-D14D-9108-CA17-1B4962671633}"/>
              </a:ext>
            </a:extLst>
          </p:cNvPr>
          <p:cNvGraphicFramePr/>
          <p:nvPr>
            <p:extLst>
              <p:ext uri="{D42A27DB-BD31-4B8C-83A1-F6EECF244321}">
                <p14:modId xmlns:p14="http://schemas.microsoft.com/office/powerpoint/2010/main" val="849227346"/>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dirty="0"/>
              <a:t>Preprocessing Strategies</a:t>
            </a:r>
          </a:p>
        </p:txBody>
      </p:sp>
      <p:graphicFrame>
        <p:nvGraphicFramePr>
          <p:cNvPr id="22" name="Content Placeholder 2">
            <a:extLst>
              <a:ext uri="{FF2B5EF4-FFF2-40B4-BE49-F238E27FC236}">
                <a16:creationId xmlns:a16="http://schemas.microsoft.com/office/drawing/2014/main" id="{9BCEA15F-8B45-00EE-7C0F-EE9CA7D68057}"/>
              </a:ext>
            </a:extLst>
          </p:cNvPr>
          <p:cNvGraphicFramePr>
            <a:graphicFrameLocks noGrp="1"/>
          </p:cNvGraphicFramePr>
          <p:nvPr>
            <p:ph idx="1"/>
            <p:extLst>
              <p:ext uri="{D42A27DB-BD31-4B8C-83A1-F6EECF244321}">
                <p14:modId xmlns:p14="http://schemas.microsoft.com/office/powerpoint/2010/main" val="1957926422"/>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Model Comparison — F1 (Native Split)</a:t>
            </a:r>
          </a:p>
        </p:txBody>
      </p:sp>
      <p:pic>
        <p:nvPicPr>
          <p:cNvPr id="3" name="Picture 2" descr="A graph of a number of different colored squares&#10;&#10;AI-generated content may be incorrect.">
            <a:extLst>
              <a:ext uri="{FF2B5EF4-FFF2-40B4-BE49-F238E27FC236}">
                <a16:creationId xmlns:a16="http://schemas.microsoft.com/office/drawing/2014/main" id="{F2E0CB1D-207B-2125-26F7-5505D2972078}"/>
              </a:ext>
            </a:extLst>
          </p:cNvPr>
          <p:cNvPicPr>
            <a:picLocks noChangeAspect="1"/>
          </p:cNvPicPr>
          <p:nvPr/>
        </p:nvPicPr>
        <p:blipFill>
          <a:blip r:embed="rId2"/>
          <a:stretch>
            <a:fillRect/>
          </a:stretch>
        </p:blipFill>
        <p:spPr>
          <a:xfrm>
            <a:off x="430455" y="1966293"/>
            <a:ext cx="8283087" cy="44521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Model Comparison — F1 (Common Split)</a:t>
            </a:r>
          </a:p>
        </p:txBody>
      </p:sp>
      <p:pic>
        <p:nvPicPr>
          <p:cNvPr id="3" name="Picture 2" descr="A graph of a number of different colored squares&#10;&#10;AI-generated content may be incorrect.">
            <a:extLst>
              <a:ext uri="{FF2B5EF4-FFF2-40B4-BE49-F238E27FC236}">
                <a16:creationId xmlns:a16="http://schemas.microsoft.com/office/drawing/2014/main" id="{F432F34F-ECB7-A480-E2E4-83459C4A8F3C}"/>
              </a:ext>
            </a:extLst>
          </p:cNvPr>
          <p:cNvPicPr>
            <a:picLocks noChangeAspect="1"/>
          </p:cNvPicPr>
          <p:nvPr/>
        </p:nvPicPr>
        <p:blipFill>
          <a:blip r:embed="rId2"/>
          <a:stretch>
            <a:fillRect/>
          </a:stretch>
        </p:blipFill>
        <p:spPr>
          <a:xfrm>
            <a:off x="487449" y="1966293"/>
            <a:ext cx="8169100" cy="44521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133778"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p:cNvSpPr>
            <a:spLocks noGrp="1"/>
          </p:cNvSpPr>
          <p:nvPr>
            <p:ph type="title"/>
          </p:nvPr>
        </p:nvSpPr>
        <p:spPr>
          <a:xfrm>
            <a:off x="628650" y="713312"/>
            <a:ext cx="3028950" cy="5431376"/>
          </a:xfrm>
        </p:spPr>
        <p:txBody>
          <a:bodyPr>
            <a:normAutofit/>
          </a:bodyPr>
          <a:lstStyle/>
          <a:p>
            <a:r>
              <a:t>Best Model &amp; Why</a:t>
            </a:r>
          </a:p>
        </p:txBody>
      </p:sp>
      <p:sp>
        <p:nvSpPr>
          <p:cNvPr id="3" name="Content Placeholder 2"/>
          <p:cNvSpPr>
            <a:spLocks noGrp="1"/>
          </p:cNvSpPr>
          <p:nvPr>
            <p:ph idx="1"/>
          </p:nvPr>
        </p:nvSpPr>
        <p:spPr>
          <a:xfrm>
            <a:off x="4571999" y="713313"/>
            <a:ext cx="3943351" cy="5431376"/>
          </a:xfrm>
        </p:spPr>
        <p:txBody>
          <a:bodyPr vert="horz" lIns="91440" tIns="45720" rIns="91440" bIns="45720" rtlCol="0" anchor="ctr">
            <a:normAutofit/>
          </a:bodyPr>
          <a:lstStyle/>
          <a:p>
            <a:pPr>
              <a:defRPr sz="2000"/>
            </a:pPr>
            <a:r>
              <a:rPr lang="en-US" sz="1700" b="1">
                <a:ea typeface="Calibri"/>
                <a:cs typeface="Calibri"/>
              </a:rPr>
              <a:t>Best model:</a:t>
            </a:r>
            <a:r>
              <a:rPr lang="en-US" sz="1700">
                <a:ea typeface="Calibri"/>
                <a:cs typeface="Calibri"/>
              </a:rPr>
              <a:t> </a:t>
            </a:r>
            <a:r>
              <a:rPr lang="en-US" sz="1700" b="1">
                <a:ea typeface="Calibri"/>
                <a:cs typeface="Calibri"/>
              </a:rPr>
              <a:t>BERTweet</a:t>
            </a:r>
            <a:r>
              <a:rPr lang="en-US" sz="1700">
                <a:ea typeface="Calibri"/>
                <a:cs typeface="Calibri"/>
              </a:rPr>
              <a:t> on the common split (F1 ≈ </a:t>
            </a:r>
            <a:r>
              <a:rPr lang="en-US" sz="1700" b="1">
                <a:ea typeface="Calibri"/>
                <a:cs typeface="Calibri"/>
              </a:rPr>
              <a:t>0.82</a:t>
            </a:r>
            <a:r>
              <a:rPr lang="en-US" sz="1700">
                <a:ea typeface="Calibri"/>
                <a:cs typeface="Calibri"/>
              </a:rPr>
              <a:t>).</a:t>
            </a:r>
            <a:br>
              <a:rPr lang="en-US" sz="1700">
                <a:ea typeface="Calibri"/>
                <a:cs typeface="Calibri"/>
              </a:rPr>
            </a:br>
            <a:r>
              <a:rPr lang="en-US" sz="1700">
                <a:ea typeface="Calibri"/>
                <a:cs typeface="Calibri"/>
              </a:rPr>
              <a:t> It wins because it’s pretrained on Twitter data → better handling of hashtags, slang, emojis, and short context.</a:t>
            </a:r>
            <a:endParaRPr lang="en-US" sz="1700"/>
          </a:p>
          <a:p>
            <a:pPr>
              <a:defRPr sz="2000"/>
            </a:pPr>
            <a:r>
              <a:rPr lang="en-US" sz="1700"/>
              <a:t>Transformers (DistilBERT/BERTweet) typically top F1 on short/noisy tweets.</a:t>
            </a:r>
          </a:p>
          <a:p>
            <a:pPr>
              <a:defRPr sz="2000"/>
            </a:pPr>
            <a:r>
              <a:rPr lang="en-US" sz="1700"/>
              <a:t>Char-gram LinearSVC competitive on slang/misspellings/hashtags.</a:t>
            </a:r>
            <a:endParaRPr lang="en-US" sz="1700">
              <a:ea typeface="Calibri"/>
              <a:cs typeface="Calibri"/>
            </a:endParaRPr>
          </a:p>
          <a:p>
            <a:pPr>
              <a:defRPr sz="2000"/>
            </a:pPr>
            <a:r>
              <a:rPr lang="en-US" sz="1700"/>
              <a:t>BiLSTM+Pooling &gt; SimpleRNN, but below modern Transformers.</a:t>
            </a:r>
            <a:endParaRPr lang="en-US" sz="1700">
              <a:ea typeface="Calibri"/>
              <a:cs typeface="Calibri"/>
            </a:endParaRPr>
          </a:p>
          <a:p>
            <a:pPr>
              <a:defRPr sz="2000"/>
            </a:pPr>
            <a:endParaRPr lang="en-US" sz="1700">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A8AAC95-3719-4BCD-B710-4160043D92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73A6D7BA-50E4-42FE-A0E3-FC42B7EC4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767722"/>
            <a:ext cx="2266158" cy="1532055"/>
          </a:xfrm>
          <a:custGeom>
            <a:avLst/>
            <a:gdLst>
              <a:gd name="connsiteX0" fmla="*/ 3021543 w 3021543"/>
              <a:gd name="connsiteY0" fmla="*/ 0 h 1532055"/>
              <a:gd name="connsiteX1" fmla="*/ 2963800 w 3021543"/>
              <a:gd name="connsiteY1" fmla="*/ 7730 h 1532055"/>
              <a:gd name="connsiteX2" fmla="*/ 2793803 w 3021543"/>
              <a:gd name="connsiteY2" fmla="*/ 25704 h 1532055"/>
              <a:gd name="connsiteX3" fmla="*/ 2414348 w 3021543"/>
              <a:gd name="connsiteY3" fmla="*/ 31695 h 1532055"/>
              <a:gd name="connsiteX4" fmla="*/ 2091558 w 3021543"/>
              <a:gd name="connsiteY4" fmla="*/ 29298 h 1532055"/>
              <a:gd name="connsiteX5" fmla="*/ 1645319 w 3021543"/>
              <a:gd name="connsiteY5" fmla="*/ 30497 h 1532055"/>
              <a:gd name="connsiteX6" fmla="*/ 1243602 w 3021543"/>
              <a:gd name="connsiteY6" fmla="*/ 64048 h 1532055"/>
              <a:gd name="connsiteX7" fmla="*/ 753851 w 3021543"/>
              <a:gd name="connsiteY7" fmla="*/ 61651 h 1532055"/>
              <a:gd name="connsiteX8" fmla="*/ 465465 w 3021543"/>
              <a:gd name="connsiteY8" fmla="*/ 123960 h 1532055"/>
              <a:gd name="connsiteX9" fmla="*/ 546416 w 3021543"/>
              <a:gd name="connsiteY9" fmla="*/ 145529 h 1532055"/>
              <a:gd name="connsiteX10" fmla="*/ 689091 w 3021543"/>
              <a:gd name="connsiteY10" fmla="*/ 192260 h 1532055"/>
              <a:gd name="connsiteX11" fmla="*/ 704269 w 3021543"/>
              <a:gd name="connsiteY11" fmla="*/ 222217 h 1532055"/>
              <a:gd name="connsiteX12" fmla="*/ 683020 w 3021543"/>
              <a:gd name="connsiteY12" fmla="*/ 236595 h 1532055"/>
              <a:gd name="connsiteX13" fmla="*/ 621295 w 3021543"/>
              <a:gd name="connsiteY13" fmla="*/ 264155 h 1532055"/>
              <a:gd name="connsiteX14" fmla="*/ 848968 w 3021543"/>
              <a:gd name="connsiteY14" fmla="*/ 304896 h 1532055"/>
              <a:gd name="connsiteX15" fmla="*/ 768018 w 3021543"/>
              <a:gd name="connsiteY15" fmla="*/ 330059 h 1532055"/>
              <a:gd name="connsiteX16" fmla="*/ 684032 w 3021543"/>
              <a:gd name="connsiteY16" fmla="*/ 348032 h 1532055"/>
              <a:gd name="connsiteX17" fmla="*/ 592962 w 3021543"/>
              <a:gd name="connsiteY17" fmla="*/ 361213 h 1532055"/>
              <a:gd name="connsiteX18" fmla="*/ 509988 w 3021543"/>
              <a:gd name="connsiteY18" fmla="*/ 387575 h 1532055"/>
              <a:gd name="connsiteX19" fmla="*/ 726531 w 3021543"/>
              <a:gd name="connsiteY19" fmla="*/ 398359 h 1532055"/>
              <a:gd name="connsiteX20" fmla="*/ 614212 w 3021543"/>
              <a:gd name="connsiteY20" fmla="*/ 422324 h 1532055"/>
              <a:gd name="connsiteX21" fmla="*/ 522131 w 3021543"/>
              <a:gd name="connsiteY21" fmla="*/ 453478 h 1532055"/>
              <a:gd name="connsiteX22" fmla="*/ 457370 w 3021543"/>
              <a:gd name="connsiteY22" fmla="*/ 467857 h 1532055"/>
              <a:gd name="connsiteX23" fmla="*/ 388562 w 3021543"/>
              <a:gd name="connsiteY23" fmla="*/ 471452 h 1532055"/>
              <a:gd name="connsiteX24" fmla="*/ 372372 w 3021543"/>
              <a:gd name="connsiteY24" fmla="*/ 494218 h 1532055"/>
              <a:gd name="connsiteX25" fmla="*/ 393622 w 3021543"/>
              <a:gd name="connsiteY25" fmla="*/ 518184 h 1532055"/>
              <a:gd name="connsiteX26" fmla="*/ 426002 w 3021543"/>
              <a:gd name="connsiteY26" fmla="*/ 520580 h 1532055"/>
              <a:gd name="connsiteX27" fmla="*/ 619271 w 3021543"/>
              <a:gd name="connsiteY27" fmla="*/ 526571 h 1532055"/>
              <a:gd name="connsiteX28" fmla="*/ 0 w 3021543"/>
              <a:gd name="connsiteY28" fmla="*/ 579294 h 1532055"/>
              <a:gd name="connsiteX29" fmla="*/ 83986 w 3021543"/>
              <a:gd name="connsiteY29" fmla="*/ 611647 h 1532055"/>
              <a:gd name="connsiteX30" fmla="*/ 112319 w 3021543"/>
              <a:gd name="connsiteY30" fmla="*/ 700317 h 1532055"/>
              <a:gd name="connsiteX31" fmla="*/ 215531 w 3021543"/>
              <a:gd name="connsiteY31" fmla="*/ 750643 h 1532055"/>
              <a:gd name="connsiteX32" fmla="*/ 282315 w 3021543"/>
              <a:gd name="connsiteY32" fmla="*/ 768617 h 1532055"/>
              <a:gd name="connsiteX33" fmla="*/ 435109 w 3021543"/>
              <a:gd name="connsiteY33" fmla="*/ 794979 h 1532055"/>
              <a:gd name="connsiteX34" fmla="*/ 457370 w 3021543"/>
              <a:gd name="connsiteY34" fmla="*/ 838116 h 1532055"/>
              <a:gd name="connsiteX35" fmla="*/ 476596 w 3021543"/>
              <a:gd name="connsiteY35" fmla="*/ 886046 h 1532055"/>
              <a:gd name="connsiteX36" fmla="*/ 517071 w 3021543"/>
              <a:gd name="connsiteY36" fmla="*/ 917200 h 1532055"/>
              <a:gd name="connsiteX37" fmla="*/ 202377 w 3021543"/>
              <a:gd name="connsiteY37" fmla="*/ 912407 h 1532055"/>
              <a:gd name="connsiteX38" fmla="*/ 557546 w 3021543"/>
              <a:gd name="connsiteY38" fmla="*/ 1013060 h 1532055"/>
              <a:gd name="connsiteX39" fmla="*/ 526178 w 3021543"/>
              <a:gd name="connsiteY39" fmla="*/ 1052602 h 1532055"/>
              <a:gd name="connsiteX40" fmla="*/ 720459 w 3021543"/>
              <a:gd name="connsiteY40" fmla="*/ 1106523 h 1532055"/>
              <a:gd name="connsiteX41" fmla="*/ 616236 w 3021543"/>
              <a:gd name="connsiteY41" fmla="*/ 1112514 h 1532055"/>
              <a:gd name="connsiteX42" fmla="*/ 1222353 w 3021543"/>
              <a:gd name="connsiteY42" fmla="*/ 1337785 h 1532055"/>
              <a:gd name="connsiteX43" fmla="*/ 2087511 w 3021543"/>
              <a:gd name="connsiteY43" fmla="*/ 1500747 h 1532055"/>
              <a:gd name="connsiteX44" fmla="*/ 2425479 w 3021543"/>
              <a:gd name="connsiteY44" fmla="*/ 1531901 h 1532055"/>
              <a:gd name="connsiteX45" fmla="*/ 2809994 w 3021543"/>
              <a:gd name="connsiteY45" fmla="*/ 1522315 h 1532055"/>
              <a:gd name="connsiteX46" fmla="*/ 2953618 w 3021543"/>
              <a:gd name="connsiteY46" fmla="*/ 1512448 h 1532055"/>
              <a:gd name="connsiteX47" fmla="*/ 3021543 w 3021543"/>
              <a:gd name="connsiteY47" fmla="*/ 1502657 h 1532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532055">
                <a:moveTo>
                  <a:pt x="3021543" y="0"/>
                </a:moveTo>
                <a:lnTo>
                  <a:pt x="2963800" y="7730"/>
                </a:lnTo>
                <a:cubicBezTo>
                  <a:pt x="2907134" y="14919"/>
                  <a:pt x="2850469" y="24506"/>
                  <a:pt x="2793803" y="25704"/>
                </a:cubicBezTo>
                <a:cubicBezTo>
                  <a:pt x="2667318" y="29298"/>
                  <a:pt x="2539821" y="20911"/>
                  <a:pt x="2414348" y="31695"/>
                </a:cubicBezTo>
                <a:cubicBezTo>
                  <a:pt x="2307089" y="41281"/>
                  <a:pt x="2198818" y="30497"/>
                  <a:pt x="2091558" y="29298"/>
                </a:cubicBezTo>
                <a:cubicBezTo>
                  <a:pt x="1942812" y="28100"/>
                  <a:pt x="1793053" y="19713"/>
                  <a:pt x="1645319" y="30497"/>
                </a:cubicBezTo>
                <a:cubicBezTo>
                  <a:pt x="1510738" y="38885"/>
                  <a:pt x="1376158" y="41281"/>
                  <a:pt x="1243602" y="64048"/>
                </a:cubicBezTo>
                <a:cubicBezTo>
                  <a:pt x="1079677" y="76030"/>
                  <a:pt x="916765" y="68841"/>
                  <a:pt x="753851" y="61651"/>
                </a:cubicBezTo>
                <a:cubicBezTo>
                  <a:pt x="653675" y="56858"/>
                  <a:pt x="554511" y="41281"/>
                  <a:pt x="465465" y="123960"/>
                </a:cubicBezTo>
                <a:cubicBezTo>
                  <a:pt x="489751" y="143132"/>
                  <a:pt x="519095" y="139537"/>
                  <a:pt x="546416" y="145529"/>
                </a:cubicBezTo>
                <a:cubicBezTo>
                  <a:pt x="594986" y="157511"/>
                  <a:pt x="643557" y="169493"/>
                  <a:pt x="689091" y="192260"/>
                </a:cubicBezTo>
                <a:cubicBezTo>
                  <a:pt x="699210" y="197053"/>
                  <a:pt x="708317" y="206639"/>
                  <a:pt x="704269" y="222217"/>
                </a:cubicBezTo>
                <a:cubicBezTo>
                  <a:pt x="701234" y="234199"/>
                  <a:pt x="691115" y="234199"/>
                  <a:pt x="683020" y="236595"/>
                </a:cubicBezTo>
                <a:cubicBezTo>
                  <a:pt x="664806" y="243785"/>
                  <a:pt x="642545" y="238992"/>
                  <a:pt x="621295" y="264155"/>
                </a:cubicBezTo>
                <a:cubicBezTo>
                  <a:pt x="702245" y="277336"/>
                  <a:pt x="780160" y="252172"/>
                  <a:pt x="848968" y="304896"/>
                </a:cubicBezTo>
                <a:cubicBezTo>
                  <a:pt x="823671" y="331257"/>
                  <a:pt x="795339" y="325266"/>
                  <a:pt x="768018" y="330059"/>
                </a:cubicBezTo>
                <a:cubicBezTo>
                  <a:pt x="739685" y="334852"/>
                  <a:pt x="712365" y="343240"/>
                  <a:pt x="684032" y="348032"/>
                </a:cubicBezTo>
                <a:cubicBezTo>
                  <a:pt x="653675" y="354023"/>
                  <a:pt x="623319" y="355222"/>
                  <a:pt x="592962" y="361213"/>
                </a:cubicBezTo>
                <a:cubicBezTo>
                  <a:pt x="567666" y="366006"/>
                  <a:pt x="540345" y="357618"/>
                  <a:pt x="509988" y="387575"/>
                </a:cubicBezTo>
                <a:cubicBezTo>
                  <a:pt x="584867" y="409143"/>
                  <a:pt x="652663" y="376790"/>
                  <a:pt x="726531" y="398359"/>
                </a:cubicBezTo>
                <a:cubicBezTo>
                  <a:pt x="683020" y="417531"/>
                  <a:pt x="647604" y="411539"/>
                  <a:pt x="614212" y="422324"/>
                </a:cubicBezTo>
                <a:cubicBezTo>
                  <a:pt x="583855" y="433108"/>
                  <a:pt x="547428" y="421126"/>
                  <a:pt x="522131" y="453478"/>
                </a:cubicBezTo>
                <a:cubicBezTo>
                  <a:pt x="502905" y="478641"/>
                  <a:pt x="482668" y="482236"/>
                  <a:pt x="457370" y="467857"/>
                </a:cubicBezTo>
                <a:cubicBezTo>
                  <a:pt x="435109" y="454676"/>
                  <a:pt x="410824" y="458271"/>
                  <a:pt x="388562" y="471452"/>
                </a:cubicBezTo>
                <a:cubicBezTo>
                  <a:pt x="380468" y="476245"/>
                  <a:pt x="372372" y="482236"/>
                  <a:pt x="372372" y="494218"/>
                </a:cubicBezTo>
                <a:cubicBezTo>
                  <a:pt x="372372" y="510994"/>
                  <a:pt x="382491" y="515787"/>
                  <a:pt x="393622" y="518184"/>
                </a:cubicBezTo>
                <a:cubicBezTo>
                  <a:pt x="403741" y="520580"/>
                  <a:pt x="415883" y="522977"/>
                  <a:pt x="426002" y="520580"/>
                </a:cubicBezTo>
                <a:cubicBezTo>
                  <a:pt x="490762" y="507399"/>
                  <a:pt x="554511" y="528968"/>
                  <a:pt x="619271" y="526571"/>
                </a:cubicBezTo>
                <a:cubicBezTo>
                  <a:pt x="415883" y="578096"/>
                  <a:pt x="210471" y="561321"/>
                  <a:pt x="0" y="579294"/>
                </a:cubicBezTo>
                <a:cubicBezTo>
                  <a:pt x="27321" y="615241"/>
                  <a:pt x="62737" y="585286"/>
                  <a:pt x="83986" y="611647"/>
                </a:cubicBezTo>
                <a:cubicBezTo>
                  <a:pt x="63748" y="666766"/>
                  <a:pt x="71844" y="696722"/>
                  <a:pt x="112319" y="700317"/>
                </a:cubicBezTo>
                <a:cubicBezTo>
                  <a:pt x="151782" y="703912"/>
                  <a:pt x="194281" y="684740"/>
                  <a:pt x="215531" y="750643"/>
                </a:cubicBezTo>
                <a:cubicBezTo>
                  <a:pt x="221602" y="771014"/>
                  <a:pt x="259042" y="765023"/>
                  <a:pt x="282315" y="768617"/>
                </a:cubicBezTo>
                <a:cubicBezTo>
                  <a:pt x="332909" y="777005"/>
                  <a:pt x="386539" y="768617"/>
                  <a:pt x="435109" y="794979"/>
                </a:cubicBezTo>
                <a:cubicBezTo>
                  <a:pt x="454335" y="804565"/>
                  <a:pt x="467489" y="811754"/>
                  <a:pt x="457370" y="838116"/>
                </a:cubicBezTo>
                <a:cubicBezTo>
                  <a:pt x="447252" y="865675"/>
                  <a:pt x="460406" y="875261"/>
                  <a:pt x="476596" y="886046"/>
                </a:cubicBezTo>
                <a:cubicBezTo>
                  <a:pt x="488739" y="894433"/>
                  <a:pt x="506953" y="892037"/>
                  <a:pt x="517071" y="917200"/>
                </a:cubicBezTo>
                <a:cubicBezTo>
                  <a:pt x="410824" y="913605"/>
                  <a:pt x="307612" y="893235"/>
                  <a:pt x="202377" y="912407"/>
                </a:cubicBezTo>
                <a:cubicBezTo>
                  <a:pt x="317731" y="960337"/>
                  <a:pt x="444216" y="957940"/>
                  <a:pt x="557546" y="1013060"/>
                </a:cubicBezTo>
                <a:cubicBezTo>
                  <a:pt x="553499" y="1032232"/>
                  <a:pt x="527190" y="1023844"/>
                  <a:pt x="526178" y="1052602"/>
                </a:cubicBezTo>
                <a:cubicBezTo>
                  <a:pt x="585879" y="1082558"/>
                  <a:pt x="657723" y="1062188"/>
                  <a:pt x="720459" y="1106523"/>
                </a:cubicBezTo>
                <a:cubicBezTo>
                  <a:pt x="684032" y="1126893"/>
                  <a:pt x="650640" y="1093342"/>
                  <a:pt x="616236" y="1112514"/>
                </a:cubicBezTo>
                <a:cubicBezTo>
                  <a:pt x="627367" y="1141273"/>
                  <a:pt x="1131283" y="1318613"/>
                  <a:pt x="1222353" y="1337785"/>
                </a:cubicBezTo>
                <a:cubicBezTo>
                  <a:pt x="1407527" y="1377327"/>
                  <a:pt x="1940788" y="1477980"/>
                  <a:pt x="2087511" y="1500747"/>
                </a:cubicBezTo>
                <a:cubicBezTo>
                  <a:pt x="2200841" y="1517522"/>
                  <a:pt x="2313160" y="1530703"/>
                  <a:pt x="2425479" y="1531901"/>
                </a:cubicBezTo>
                <a:cubicBezTo>
                  <a:pt x="2553988" y="1533099"/>
                  <a:pt x="2681485" y="1527108"/>
                  <a:pt x="2809994" y="1522315"/>
                </a:cubicBezTo>
                <a:cubicBezTo>
                  <a:pt x="2858058" y="1520518"/>
                  <a:pt x="2905933" y="1517372"/>
                  <a:pt x="2953618" y="1512448"/>
                </a:cubicBezTo>
                <a:lnTo>
                  <a:pt x="3021543" y="1502657"/>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p:cNvSpPr>
            <a:spLocks noGrp="1"/>
          </p:cNvSpPr>
          <p:nvPr>
            <p:ph type="title"/>
          </p:nvPr>
        </p:nvSpPr>
        <p:spPr>
          <a:xfrm>
            <a:off x="628650" y="838199"/>
            <a:ext cx="3143250" cy="5338763"/>
          </a:xfrm>
        </p:spPr>
        <p:txBody>
          <a:bodyPr>
            <a:normAutofit/>
          </a:bodyPr>
          <a:lstStyle/>
          <a:p>
            <a:r>
              <a:t>Task-Specific Efforts</a:t>
            </a:r>
          </a:p>
        </p:txBody>
      </p:sp>
      <p:sp>
        <p:nvSpPr>
          <p:cNvPr id="3" name="Content Placeholder 2"/>
          <p:cNvSpPr>
            <a:spLocks noGrp="1"/>
          </p:cNvSpPr>
          <p:nvPr>
            <p:ph idx="1"/>
          </p:nvPr>
        </p:nvSpPr>
        <p:spPr>
          <a:xfrm>
            <a:off x="3976749" y="838199"/>
            <a:ext cx="4538601" cy="5338763"/>
          </a:xfrm>
        </p:spPr>
        <p:txBody>
          <a:bodyPr vert="horz" lIns="91440" tIns="45720" rIns="91440" bIns="45720" rtlCol="0" anchor="ctr">
            <a:normAutofit/>
          </a:bodyPr>
          <a:lstStyle/>
          <a:p>
            <a:pPr>
              <a:defRPr sz="2000"/>
            </a:pPr>
            <a:r>
              <a:rPr lang="en-US" sz="1700"/>
              <a:t>Decision threshold tuning for best F1.</a:t>
            </a:r>
          </a:p>
          <a:p>
            <a:pPr>
              <a:defRPr sz="2000"/>
            </a:pPr>
            <a:r>
              <a:rPr lang="en-US" sz="1700"/>
              <a:t>Included metadata (keyword/location) in BERTweet prompt.</a:t>
            </a:r>
            <a:endParaRPr lang="en-US" sz="1700">
              <a:ea typeface="Calibri"/>
              <a:cs typeface="Calibri"/>
            </a:endParaRPr>
          </a:p>
          <a:p>
            <a:pPr>
              <a:defRPr sz="2000"/>
            </a:pPr>
            <a:r>
              <a:rPr lang="en-US" sz="1700"/>
              <a:t>Evaluated multiple cleaning variants per model family.</a:t>
            </a:r>
            <a:endParaRPr lang="en-US" sz="1700">
              <a:ea typeface="Calibri"/>
              <a:cs typeface="Calibri"/>
            </a:endParaRPr>
          </a:p>
          <a:p>
            <a:pPr>
              <a:defRPr sz="2000"/>
            </a:pPr>
            <a:r>
              <a:rPr lang="en-US" sz="1700"/>
              <a:t>Tracked ROC‑AUC and PR‑AUC for robustness.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133778"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p:cNvSpPr>
            <a:spLocks noGrp="1"/>
          </p:cNvSpPr>
          <p:nvPr>
            <p:ph type="title"/>
          </p:nvPr>
        </p:nvSpPr>
        <p:spPr>
          <a:xfrm>
            <a:off x="628650" y="713312"/>
            <a:ext cx="3028950" cy="5431376"/>
          </a:xfrm>
        </p:spPr>
        <p:txBody>
          <a:bodyPr>
            <a:normAutofit/>
          </a:bodyPr>
          <a:lstStyle/>
          <a:p>
            <a:r>
              <a:rPr dirty="0"/>
              <a:t>Error Analysis </a:t>
            </a:r>
          </a:p>
        </p:txBody>
      </p:sp>
      <p:sp>
        <p:nvSpPr>
          <p:cNvPr id="13" name="Content Placeholder 2"/>
          <p:cNvSpPr>
            <a:spLocks noGrp="1"/>
          </p:cNvSpPr>
          <p:nvPr>
            <p:ph idx="1"/>
          </p:nvPr>
        </p:nvSpPr>
        <p:spPr>
          <a:xfrm>
            <a:off x="4571999" y="713313"/>
            <a:ext cx="3943351" cy="5431376"/>
          </a:xfrm>
        </p:spPr>
        <p:txBody>
          <a:bodyPr anchor="ctr">
            <a:normAutofit/>
          </a:bodyPr>
          <a:lstStyle/>
          <a:p>
            <a:pPr>
              <a:defRPr sz="2000"/>
            </a:pPr>
            <a:r>
              <a:rPr sz="1700"/>
              <a:t>Metaphors/sarcasm (“my phone is on fire”) → false positives.</a:t>
            </a:r>
          </a:p>
          <a:p>
            <a:pPr>
              <a:defRPr sz="2000"/>
            </a:pPr>
            <a:r>
              <a:rPr sz="1700"/>
              <a:t>Sparse context (“evacuating now”) → some false negatives.</a:t>
            </a:r>
          </a:p>
          <a:p>
            <a:pPr>
              <a:defRPr sz="2000"/>
            </a:pPr>
            <a:r>
              <a:rPr sz="1700"/>
              <a:t>Potential fixes: keyword lexicons, augmentation, char‑SVC ensemble.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9144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0050516-B024-6DBF-C29D-C5597CB187F6}"/>
              </a:ext>
            </a:extLst>
          </p:cNvPr>
          <p:cNvSpPr>
            <a:spLocks noGrp="1"/>
          </p:cNvSpPr>
          <p:nvPr>
            <p:ph type="title"/>
          </p:nvPr>
        </p:nvSpPr>
        <p:spPr>
          <a:xfrm>
            <a:off x="852777" y="548640"/>
            <a:ext cx="7157553" cy="1188720"/>
          </a:xfrm>
        </p:spPr>
        <p:txBody>
          <a:bodyPr>
            <a:normAutofit/>
          </a:bodyPr>
          <a:lstStyle/>
          <a:p>
            <a:r>
              <a:rPr lang="en-US">
                <a:solidFill>
                  <a:schemeClr val="tx1">
                    <a:lumMod val="85000"/>
                    <a:lumOff val="15000"/>
                  </a:schemeClr>
                </a:solidFill>
                <a:ea typeface="Calibri"/>
                <a:cs typeface="Calibri"/>
              </a:rPr>
              <a:t>Social Impact</a:t>
            </a:r>
            <a:endParaRPr lang="en-US">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D4D88F06-C193-7A69-2793-D3C80791538A}"/>
              </a:ext>
            </a:extLst>
          </p:cNvPr>
          <p:cNvSpPr>
            <a:spLocks noGrp="1"/>
          </p:cNvSpPr>
          <p:nvPr>
            <p:ph idx="1"/>
          </p:nvPr>
        </p:nvSpPr>
        <p:spPr>
          <a:xfrm>
            <a:off x="1468490" y="2431765"/>
            <a:ext cx="6207019" cy="3320031"/>
          </a:xfrm>
        </p:spPr>
        <p:txBody>
          <a:bodyPr vert="horz" lIns="91440" tIns="45720" rIns="91440" bIns="45720" rtlCol="0" anchor="ctr">
            <a:normAutofit/>
          </a:bodyPr>
          <a:lstStyle/>
          <a:p>
            <a:r>
              <a:rPr lang="en-US" sz="1700" b="1">
                <a:solidFill>
                  <a:schemeClr val="tx1">
                    <a:lumMod val="85000"/>
                    <a:lumOff val="15000"/>
                  </a:schemeClr>
                </a:solidFill>
                <a:ea typeface="+mn-lt"/>
                <a:cs typeface="+mn-lt"/>
              </a:rPr>
              <a:t>Faster situational awareness:</a:t>
            </a:r>
            <a:r>
              <a:rPr lang="en-US" sz="1700">
                <a:solidFill>
                  <a:schemeClr val="tx1">
                    <a:lumMod val="85000"/>
                    <a:lumOff val="15000"/>
                  </a:schemeClr>
                </a:solidFill>
                <a:ea typeface="+mn-lt"/>
                <a:cs typeface="+mn-lt"/>
              </a:rPr>
              <a:t> flag disaster-related tweets in near-real time → earlier alerts for emergency ops centers.</a:t>
            </a:r>
            <a:endParaRPr lang="en-US" sz="1700">
              <a:solidFill>
                <a:schemeClr val="tx1">
                  <a:lumMod val="85000"/>
                  <a:lumOff val="15000"/>
                </a:schemeClr>
              </a:solidFill>
              <a:ea typeface="Calibri"/>
              <a:cs typeface="Calibri"/>
            </a:endParaRPr>
          </a:p>
          <a:p>
            <a:r>
              <a:rPr lang="en-US" sz="1700" b="1">
                <a:solidFill>
                  <a:schemeClr val="tx1">
                    <a:lumMod val="85000"/>
                    <a:lumOff val="15000"/>
                  </a:schemeClr>
                </a:solidFill>
                <a:ea typeface="+mn-lt"/>
                <a:cs typeface="+mn-lt"/>
              </a:rPr>
              <a:t>Better triage &amp; resource allocation:</a:t>
            </a:r>
            <a:r>
              <a:rPr lang="en-US" sz="1700">
                <a:solidFill>
                  <a:schemeClr val="tx1">
                    <a:lumMod val="85000"/>
                    <a:lumOff val="15000"/>
                  </a:schemeClr>
                </a:solidFill>
                <a:ea typeface="+mn-lt"/>
                <a:cs typeface="+mn-lt"/>
              </a:rPr>
              <a:t> prioritize locations/keywords tied to true incidents, reducing response time and cost.</a:t>
            </a:r>
            <a:endParaRPr lang="en-US" sz="1700">
              <a:solidFill>
                <a:schemeClr val="tx1">
                  <a:lumMod val="85000"/>
                  <a:lumOff val="15000"/>
                </a:schemeClr>
              </a:solidFill>
            </a:endParaRPr>
          </a:p>
          <a:p>
            <a:r>
              <a:rPr lang="en-US" sz="1700" b="1">
                <a:solidFill>
                  <a:schemeClr val="tx1">
                    <a:lumMod val="85000"/>
                    <a:lumOff val="15000"/>
                  </a:schemeClr>
                </a:solidFill>
                <a:ea typeface="+mn-lt"/>
                <a:cs typeface="+mn-lt"/>
              </a:rPr>
              <a:t>Public information quality:</a:t>
            </a:r>
            <a:r>
              <a:rPr lang="en-US" sz="1700">
                <a:solidFill>
                  <a:schemeClr val="tx1">
                    <a:lumMod val="85000"/>
                    <a:lumOff val="15000"/>
                  </a:schemeClr>
                </a:solidFill>
                <a:ea typeface="+mn-lt"/>
                <a:cs typeface="+mn-lt"/>
              </a:rPr>
              <a:t> helps surface credible reports and reduce attention on benign chatter (“my phone is on fire”).</a:t>
            </a:r>
            <a:endParaRPr lang="en-US" sz="1700">
              <a:solidFill>
                <a:schemeClr val="tx1">
                  <a:lumMod val="85000"/>
                  <a:lumOff val="15000"/>
                </a:schemeClr>
              </a:solidFill>
            </a:endParaRPr>
          </a:p>
          <a:p>
            <a:r>
              <a:rPr lang="en-US" sz="1700" b="1">
                <a:solidFill>
                  <a:schemeClr val="tx1">
                    <a:lumMod val="85000"/>
                    <a:lumOff val="15000"/>
                  </a:schemeClr>
                </a:solidFill>
                <a:ea typeface="+mn-lt"/>
                <a:cs typeface="+mn-lt"/>
              </a:rPr>
              <a:t>Operational efficiency:</a:t>
            </a:r>
            <a:r>
              <a:rPr lang="en-US" sz="1700">
                <a:solidFill>
                  <a:schemeClr val="tx1">
                    <a:lumMod val="85000"/>
                    <a:lumOff val="15000"/>
                  </a:schemeClr>
                </a:solidFill>
                <a:ea typeface="+mn-lt"/>
                <a:cs typeface="+mn-lt"/>
              </a:rPr>
              <a:t> lightweight classic models can run on edge/low-cost servers; BERTweet can be used for high-accuracy back-end verification.</a:t>
            </a:r>
            <a:endParaRPr lang="en-US" sz="1700">
              <a:solidFill>
                <a:schemeClr val="tx1">
                  <a:lumMod val="85000"/>
                  <a:lumOff val="15000"/>
                </a:schemeClr>
              </a:solidFill>
            </a:endParaRPr>
          </a:p>
          <a:p>
            <a:endParaRPr lang="en-US" sz="1700">
              <a:solidFill>
                <a:schemeClr val="tx1">
                  <a:lumMod val="85000"/>
                  <a:lumOff val="15000"/>
                </a:schemeClr>
              </a:solidFill>
              <a:ea typeface="Calibri"/>
              <a:cs typeface="Calibri"/>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8439" y="5970896"/>
            <a:ext cx="7475562"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9311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133778"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p:cNvSpPr>
            <a:spLocks noGrp="1"/>
          </p:cNvSpPr>
          <p:nvPr>
            <p:ph type="title"/>
          </p:nvPr>
        </p:nvSpPr>
        <p:spPr>
          <a:xfrm>
            <a:off x="628650" y="713312"/>
            <a:ext cx="3028950" cy="5431376"/>
          </a:xfrm>
        </p:spPr>
        <p:txBody>
          <a:bodyPr>
            <a:normAutofit/>
          </a:bodyPr>
          <a:lstStyle/>
          <a:p>
            <a:r>
              <a:rPr dirty="0"/>
              <a:t>Conclusion </a:t>
            </a:r>
          </a:p>
        </p:txBody>
      </p:sp>
      <p:sp>
        <p:nvSpPr>
          <p:cNvPr id="3" name="Content Placeholder 2"/>
          <p:cNvSpPr>
            <a:spLocks noGrp="1"/>
          </p:cNvSpPr>
          <p:nvPr>
            <p:ph idx="1"/>
          </p:nvPr>
        </p:nvSpPr>
        <p:spPr>
          <a:xfrm>
            <a:off x="4571999" y="713313"/>
            <a:ext cx="3943351" cy="5431376"/>
          </a:xfrm>
        </p:spPr>
        <p:txBody>
          <a:bodyPr vert="horz" lIns="91440" tIns="45720" rIns="91440" bIns="45720" rtlCol="0" anchor="ctr">
            <a:normAutofit/>
          </a:bodyPr>
          <a:lstStyle/>
          <a:p>
            <a:pPr>
              <a:defRPr sz="2000"/>
            </a:pPr>
            <a:r>
              <a:rPr lang="en-US" sz="1700"/>
              <a:t>Our BERTweet model achieves strong F1 and beats simple baselines.</a:t>
            </a:r>
          </a:p>
          <a:p>
            <a:pPr>
              <a:defRPr sz="2000"/>
            </a:pPr>
            <a:r>
              <a:rPr lang="en-US" sz="1700" b="1">
                <a:ea typeface="+mn-lt"/>
                <a:cs typeface="+mn-lt"/>
              </a:rPr>
              <a:t>Strong runner-ups:</a:t>
            </a:r>
            <a:r>
              <a:rPr lang="en-US" sz="1700">
                <a:ea typeface="+mn-lt"/>
                <a:cs typeface="+mn-lt"/>
              </a:rPr>
              <a:t> DistilBERT (F1 ≈ 0.79) &gt; LinearSVC (char n-grams) ≈ TF-IDF+LogReg &gt; SimpleRNN.</a:t>
            </a:r>
            <a:br>
              <a:rPr lang="en-US" sz="1700">
                <a:ea typeface="+mn-lt"/>
                <a:cs typeface="+mn-lt"/>
              </a:rPr>
            </a:br>
            <a:r>
              <a:rPr lang="en-US" sz="1700">
                <a:ea typeface="+mn-lt"/>
                <a:cs typeface="+mn-lt"/>
              </a:rPr>
              <a:t> Character n-grams help with noisy spelling; classic TF-IDF remains a solid, fast baseline.</a:t>
            </a:r>
            <a:endParaRPr lang="en-US" sz="1700"/>
          </a:p>
          <a:p>
            <a:pPr>
              <a:defRPr sz="2000"/>
            </a:pPr>
            <a:r>
              <a:rPr lang="en-US" sz="1700" b="1">
                <a:ea typeface="+mn-lt"/>
                <a:cs typeface="+mn-lt"/>
              </a:rPr>
              <a:t>Data decisions that helped:</a:t>
            </a:r>
            <a:r>
              <a:rPr lang="en-US" sz="1700">
                <a:ea typeface="+mn-lt"/>
                <a:cs typeface="+mn-lt"/>
              </a:rPr>
              <a:t> keep rows, fill </a:t>
            </a:r>
            <a:r>
              <a:rPr lang="en-US" sz="1700">
                <a:latin typeface="Consolas"/>
                <a:ea typeface="Calibri"/>
                <a:cs typeface="Calibri"/>
              </a:rPr>
              <a:t>keyword/location</a:t>
            </a:r>
            <a:r>
              <a:rPr lang="en-US" sz="1700">
                <a:ea typeface="+mn-lt"/>
                <a:cs typeface="+mn-lt"/>
              </a:rPr>
              <a:t> with placeholders, and </a:t>
            </a:r>
            <a:r>
              <a:rPr lang="en-US" sz="1700" b="1">
                <a:ea typeface="+mn-lt"/>
                <a:cs typeface="+mn-lt"/>
              </a:rPr>
              <a:t>skip missing meta</a:t>
            </a:r>
            <a:r>
              <a:rPr lang="en-US" sz="1700">
                <a:ea typeface="+mn-lt"/>
                <a:cs typeface="+mn-lt"/>
              </a:rPr>
              <a:t> in BERTweet prompts.</a:t>
            </a:r>
          </a:p>
          <a:p>
            <a:pPr>
              <a:defRPr sz="2000"/>
            </a:pPr>
            <a:r>
              <a:rPr lang="en-US" sz="1700">
                <a:ea typeface="+mn-lt"/>
                <a:cs typeface="+mn-lt"/>
              </a:rPr>
              <a:t>Preserved sample size and avoided injecting “unknown” noise.</a:t>
            </a:r>
            <a:endParaRPr lang="en-US" sz="1700">
              <a:ea typeface="Calibri"/>
              <a:cs typeface="Calibri"/>
            </a:endParaRPr>
          </a:p>
          <a:p>
            <a:pPr>
              <a:defRPr sz="2000"/>
            </a:pPr>
            <a:endParaRPr lang="en-US" sz="1700">
              <a:ea typeface="Calibri"/>
              <a:cs typeface="Calibri"/>
            </a:endParaRPr>
          </a:p>
          <a:p>
            <a:pPr>
              <a:defRPr sz="2000"/>
            </a:pPr>
            <a:endParaRPr lang="en-US" sz="1700">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18</Slides>
  <Notes>4</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Disaster Tweets Classification</vt:lpstr>
      <vt:lpstr>Project Idea &amp; Competition Rationale</vt:lpstr>
      <vt:lpstr>Data Exploration (highlights)</vt:lpstr>
      <vt:lpstr>EDA — Class Distribution</vt:lpstr>
      <vt:lpstr>EDA — Top Keywords </vt:lpstr>
      <vt:lpstr>EDA — Top Locations</vt:lpstr>
      <vt:lpstr>Word Clouds</vt:lpstr>
      <vt:lpstr>EDA — Length / Histogram</vt:lpstr>
      <vt:lpstr>Models Tried</vt:lpstr>
      <vt:lpstr>Transformers</vt:lpstr>
      <vt:lpstr>Preprocessing Strategies</vt:lpstr>
      <vt:lpstr>Model Comparison — F1 (Native Split)</vt:lpstr>
      <vt:lpstr>Model Comparison — F1 (Common Split)</vt:lpstr>
      <vt:lpstr>Best Model &amp; Why</vt:lpstr>
      <vt:lpstr>Task-Specific Efforts</vt:lpstr>
      <vt:lpstr>Error Analysis </vt:lpstr>
      <vt:lpstr>Social Impact</vt:lpstr>
      <vt:lpstr>Conclusion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189</cp:revision>
  <dcterms:created xsi:type="dcterms:W3CDTF">2013-01-27T09:14:16Z</dcterms:created>
  <dcterms:modified xsi:type="dcterms:W3CDTF">2025-11-09T16:57:24Z</dcterms:modified>
  <cp:category/>
</cp:coreProperties>
</file>